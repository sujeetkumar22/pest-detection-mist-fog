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6256000" cy="9144000"/>
  <p:notesSz cx="9144000" cy="16256000"/>
  <p:embeddedFontLst>
    <p:embeddedFont>
      <p:font typeface="Quattrocento Sans" charset="-122" pitchFamily="34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font" Target="fonts/font1.fntdata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2796F"/>
              </a:solidFill>
              <a:effectLst/>
            </c:spPr>
          </c:dPt>
          <c:dPt>
            <c:idx val="1"/>
            <c:bubble3D val="0"/>
            <c:spPr>
              <a:solidFill>
                <a:srgbClr val="CAD2C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Training</c:v>
                </c:pt>
                <c:pt idx="1">
                  <c:v>Validation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5_Smart_Agriculture_Technology_Field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4000"/>
                </a:srgbClr>
              </a:gs>
              <a:gs pos="55000">
                <a:srgbClr val="1B4332">
                  <a:alpha val="82000"/>
                </a:srgbClr>
              </a:gs>
              <a:gs pos="100000">
                <a:srgbClr val="1B4332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4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M.SC. MAJOR PROJECT REPORT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2717800"/>
            <a:ext cx="1016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2971800"/>
            <a:ext cx="812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3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Mist-Fog-Assisted Real-Time Pest Detection and Classification Framework Using Deep Transfer Learning for Smart Agriculture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609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Sujeet Kumar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6553200"/>
            <a:ext cx="6350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M.Sc. Computer Science | University of Delhi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 No: 24234747005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Dilip Senapati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 2025-2026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3820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8382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spc="200" kern="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DUCS | DELHI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01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4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4892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794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overview of the Mist-Fog-Assisted pest detection framework covering architecture, methodology, and experimental validation.</a:t>
            </a:r>
            <a:endParaRPr lang="en-US" sz="1600" dirty="0"/>
          </a:p>
        </p:txBody>
      </p:sp>
      <p:pic>
        <p:nvPicPr>
          <p:cNvPr id="7" name="Image 0" descr="https://kimi-img.moonshot.cn/pub/slides/okc/irsuitcrkvbwm/mnt/agents/output/pest-detection-presentation/images/10_Smart_Agriculture_Modern_Technology.png">    </p:cNvPr>
          <p:cNvPicPr>
            <a:picLocks noChangeAspect="1"/>
          </p:cNvPicPr>
          <p:nvPr/>
        </p:nvPicPr>
        <p:blipFill>
          <a:blip r:embed="rId1"/>
          <a:srcRect l="14103" r="14103" t="0" b="0"/>
          <a:stretch/>
        </p:blipFill>
        <p:spPr>
          <a:xfrm>
            <a:off x="762000" y="4572000"/>
            <a:ext cx="3810000" cy="3810000"/>
          </a:xfrm>
          <a:prstGeom prst="roundRect">
            <a:avLst>
              <a:gd name="adj" fmla="val 80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096000" y="1270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0" y="127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Motivation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0" y="16764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Agriculture 4.0, pest threats, edge intelligence, and project objectives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96000" y="2209800"/>
            <a:ext cx="939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2" name="Text 9"/>
          <p:cNvSpPr/>
          <p:nvPr/>
        </p:nvSpPr>
        <p:spPr>
          <a:xfrm>
            <a:off x="6096000" y="24638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0" y="24638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 &amp; Research Gap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0" y="28702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architectures, lightweight deep learning models, and identified gaps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96000" y="3403600"/>
            <a:ext cx="939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6" name="Text 13"/>
          <p:cNvSpPr/>
          <p:nvPr/>
        </p:nvSpPr>
        <p:spPr>
          <a:xfrm>
            <a:off x="6096000" y="36576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0" y="3657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System Architecture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0" y="40640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Mist-Fog-Cloud topology and optimization framework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096000" y="4597400"/>
            <a:ext cx="939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0" name="Text 17"/>
          <p:cNvSpPr/>
          <p:nvPr/>
        </p:nvSpPr>
        <p:spPr>
          <a:xfrm>
            <a:off x="6096000" y="48514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858000" y="48514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 &amp; Implementation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58000" y="52578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preparation, augmentation, model architecture, and training setup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096000" y="5791200"/>
            <a:ext cx="939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4" name="Text 21"/>
          <p:cNvSpPr/>
          <p:nvPr/>
        </p:nvSpPr>
        <p:spPr>
          <a:xfrm>
            <a:off x="6096000" y="60452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0" y="60452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Results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58000" y="64516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convergence, classification metrics, hardware profiling, and benchmarks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096000" y="6985000"/>
            <a:ext cx="939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8" name="Text 25"/>
          <p:cNvSpPr/>
          <p:nvPr/>
        </p:nvSpPr>
        <p:spPr>
          <a:xfrm>
            <a:off x="6096000" y="7239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58000" y="7239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858000" y="76454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contributions, environmental impact, and future research directions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2_AI_powered_Smart_Farming_IoT_Sensors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MOTIVATION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Agriculture 4.0, pest threats, edge intelligence challenges, and project objectives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Agriculture 4.0 and Precision Farming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701800"/>
            <a:ext cx="8128000" cy="67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Global Agricultural Challenge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 population projected to reach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billion by 2050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demanding dramatic yield increases under severe ecological constraints: land depletion, water scarcity, and climate volatility.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Agriculture 4.0 Paradigm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radical transformation from experience-based farming to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data-driven, precise intervention models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Relies on IoT sensors, UAVs, automated telemetry, and localized analytics.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Precision Farming Principle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Spatial and temporal variation management — applying water, fertilizers, and pest treatments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precisely where and when needed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through a continuous loop of data collection, processing, and actuation.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Requirement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Robust,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autonomous computation pipelines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operating within extreme physical and electrical constraints of remote field environments.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71000" y="1701800"/>
            <a:ext cx="6223000" cy="6731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0" y="2032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POPULATION BY 2050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0" y="2362200"/>
            <a:ext cx="254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2573000" y="2032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YIELD LOSS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573000" y="2362200"/>
            <a:ext cx="254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20-40%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9652000" y="3276600"/>
            <a:ext cx="5461000" cy="12700"/>
          </a:xfrm>
          <a:prstGeom prst="rect">
            <a:avLst/>
          </a:prstGeom>
          <a:solidFill>
            <a:srgbClr val="D5D0C8"/>
          </a:solidFill>
          <a:ln/>
        </p:spPr>
      </p:sp>
      <p:pic>
        <p:nvPicPr>
          <p:cNvPr id="19" name="Image 0" descr="https://kimi-img.moonshot.cn/pub/slides/okc/irsuitcrkvbwm/mnt/agents/output/pest-detection-presentation/images/10_Smart_Agriculture_Modern_Technology.png">    </p:cNvPr>
          <p:cNvPicPr>
            <a:picLocks noChangeAspect="1"/>
          </p:cNvPicPr>
          <p:nvPr/>
        </p:nvPicPr>
        <p:blipFill>
          <a:blip r:embed="rId1"/>
          <a:srcRect l="0" r="0" t="11130" b="11130"/>
          <a:stretch/>
        </p:blipFill>
        <p:spPr>
          <a:xfrm>
            <a:off x="9652000" y="3556000"/>
            <a:ext cx="5461000" cy="3048000"/>
          </a:xfrm>
          <a:prstGeom prst="roundRect">
            <a:avLst>
              <a:gd name="adj" fmla="val 4000"/>
            </a:avLst>
          </a:prstGeom>
        </p:spPr>
      </p:pic>
      <p:sp>
        <p:nvSpPr>
          <p:cNvPr id="20" name="Text 17"/>
          <p:cNvSpPr/>
          <p:nvPr/>
        </p:nvSpPr>
        <p:spPr>
          <a:xfrm>
            <a:off x="9652000" y="6731000"/>
            <a:ext cx="546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IoT-enabled precision farming with multi-modal sensors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52000" y="7162800"/>
            <a:ext cx="546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Agriculture 4.0 integrates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embedded sensors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soil moisture, humidity, temperature, and high-resolution visual feeds to generate actionable diagnostic models.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Pest Threats and Limitations of Traditional Methods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pic>
        <p:nvPicPr>
          <p:cNvPr id="12" name="Image 0" descr="https://kimi-img.moonshot.cn/pub/slides/okc/irsuitcrkvbwm/mnt/agents/output/pest-detection-presentation/images/4_Close_up_Corn_Leaf_Damaged_By_Insect.png">    </p:cNvPr>
          <p:cNvPicPr>
            <a:picLocks noChangeAspect="1"/>
          </p:cNvPicPr>
          <p:nvPr/>
        </p:nvPicPr>
        <p:blipFill>
          <a:blip r:embed="rId1"/>
          <a:srcRect l="2484" r="2484" t="0" b="0"/>
          <a:stretch/>
        </p:blipFill>
        <p:spPr>
          <a:xfrm>
            <a:off x="762000" y="1701800"/>
            <a:ext cx="5588000" cy="3556000"/>
          </a:xfrm>
          <a:prstGeom prst="roundRect">
            <a:avLst>
              <a:gd name="adj" fmla="val 4000"/>
            </a:avLst>
          </a:prstGeom>
        </p:spPr>
      </p:pic>
      <p:sp>
        <p:nvSpPr>
          <p:cNvPr id="13" name="Text 10"/>
          <p:cNvSpPr/>
          <p:nvPr/>
        </p:nvSpPr>
        <p:spPr>
          <a:xfrm>
            <a:off x="762000" y="5359400"/>
            <a:ext cx="558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damage caused by insect pest infestation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5816600"/>
            <a:ext cx="5588000" cy="2540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6070600"/>
            <a:ext cx="482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CROP LOSS (FAO)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3000" y="6400800"/>
            <a:ext cx="4826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20-40%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3000" y="7239000"/>
            <a:ext cx="4826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8F6F1">
                    <a:alpha val="7529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global crop yields destroyed by plant pests and diseases annually, resulting in hundreds of billions of dollars in direct financial losses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0" y="1701800"/>
            <a:ext cx="8636000" cy="67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Traditional Manual Inspection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centuries, pest management relied on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manual field inspection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farmers walking fields, visually scanning for damage. This approach is: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Labor-intensive, slow, and subjective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Comprehensive monitoring of large farmlands is physically impossible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Minor infestations overlooked in early stages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the time damage is visible, localized control is no longer feasible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Ecological Consequences of Late Detection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Late detection forces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uniform pesticide spraying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entire farmlands, causing: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Accelerated chemical toxicity in soils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Pollution of adjacent water tables through runoff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Destruction of beneficial insects (predators, pollinators)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Rapid pest resistance to chemical treatments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Severe health risks from pesticide residues on food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Solution: Automated, continuous visual monitoring for early, localized pest detection and ecological intervention.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Edge Intelligence and Hierarchical Computing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701800"/>
            <a:ext cx="736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Cloud-Centric Bottleneck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Standard CNNs (VGG, ResNet, DenseNet) contain tens of millions of parameters requiring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cloud data centers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Agricultural farmlands have weak or no connectivity, making centralized approaches impractical.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Edge Intelligence Solution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 deep learning models on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 hardware at the farm boundary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eliminating external network dependency, slashing communication delays to milliseconds, and ensuring data privacy.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511800"/>
            <a:ext cx="4699000" cy="2921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6800" y="576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22225"/>
                </a:moveTo>
                <a:cubicBezTo>
                  <a:pt x="355600" y="97304"/>
                  <a:pt x="302399" y="159951"/>
                  <a:pt x="231696" y="174605"/>
                </a:cubicBezTo>
                <a:cubicBezTo>
                  <a:pt x="226209" y="134253"/>
                  <a:pt x="208082" y="97929"/>
                  <a:pt x="181342" y="69800"/>
                </a:cubicBezTo>
                <a:cubicBezTo>
                  <a:pt x="209193" y="27781"/>
                  <a:pt x="256907" y="0"/>
                  <a:pt x="311150" y="0"/>
                </a:cubicBezTo>
                <a:lnTo>
                  <a:pt x="333375" y="0"/>
                </a:lnTo>
                <a:cubicBezTo>
                  <a:pt x="345668" y="0"/>
                  <a:pt x="355600" y="9932"/>
                  <a:pt x="355600" y="22225"/>
                </a:cubicBezTo>
                <a:close/>
                <a:moveTo>
                  <a:pt x="0" y="66675"/>
                </a:moveTo>
                <a:cubicBezTo>
                  <a:pt x="0" y="54382"/>
                  <a:pt x="9932" y="44450"/>
                  <a:pt x="22225" y="44450"/>
                </a:cubicBezTo>
                <a:lnTo>
                  <a:pt x="44450" y="44450"/>
                </a:lnTo>
                <a:cubicBezTo>
                  <a:pt x="130364" y="44450"/>
                  <a:pt x="200025" y="114111"/>
                  <a:pt x="200025" y="200025"/>
                </a:cubicBezTo>
                <a:lnTo>
                  <a:pt x="200025" y="333375"/>
                </a:lnTo>
                <a:cubicBezTo>
                  <a:pt x="200025" y="345668"/>
                  <a:pt x="190093" y="355600"/>
                  <a:pt x="177800" y="355600"/>
                </a:cubicBezTo>
                <a:cubicBezTo>
                  <a:pt x="165507" y="355600"/>
                  <a:pt x="155575" y="345668"/>
                  <a:pt x="155575" y="333375"/>
                </a:cubicBezTo>
                <a:lnTo>
                  <a:pt x="155575" y="222250"/>
                </a:lnTo>
                <a:cubicBezTo>
                  <a:pt x="69661" y="222250"/>
                  <a:pt x="0" y="152589"/>
                  <a:pt x="0" y="666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3"/>
          <p:cNvSpPr/>
          <p:nvPr/>
        </p:nvSpPr>
        <p:spPr>
          <a:xfrm>
            <a:off x="1574800" y="57658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6273800"/>
            <a:ext cx="4089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7529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Ultra-low-power nodes (ESP32-CAM, MCUs) in pheromone traps. Responsible for data ingestion, ROI cropping, and short-range wireless transmission via LoRaWAN or Zigbee.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0" y="5511800"/>
            <a:ext cx="4699000" cy="2921000"/>
          </a:xfrm>
          <a:prstGeom prst="roundRect">
            <a:avLst>
              <a:gd name="adj" fmla="val 4000"/>
            </a:avLst>
          </a:prstGeom>
          <a:solidFill>
            <a:srgbClr val="52796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19800" y="576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7"/>
          <p:cNvSpPr/>
          <p:nvPr/>
        </p:nvSpPr>
        <p:spPr>
          <a:xfrm>
            <a:off x="6527800" y="57658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Fog Layer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19800" y="6273800"/>
            <a:ext cx="4089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7529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Single-board computers (Raspberry Pi, NVIDIA Jetson) running the core MobileNetV3-Large model. Delivers real-time classification within milliseconds, operates without internet.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68000" y="5511800"/>
            <a:ext cx="4826000" cy="2921000"/>
          </a:xfrm>
          <a:prstGeom prst="roundRect">
            <a:avLst>
              <a:gd name="adj" fmla="val 4000"/>
            </a:avLst>
          </a:prstGeom>
          <a:solidFill>
            <a:srgbClr val="6B70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50575" y="5765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233363"/>
                </a:moveTo>
                <a:cubicBezTo>
                  <a:pt x="0" y="288578"/>
                  <a:pt x="44797" y="333375"/>
                  <a:pt x="100013" y="333375"/>
                </a:cubicBezTo>
                <a:lnTo>
                  <a:pt x="311150" y="333375"/>
                </a:lnTo>
                <a:cubicBezTo>
                  <a:pt x="360253" y="333375"/>
                  <a:pt x="400050" y="293578"/>
                  <a:pt x="400050" y="244475"/>
                </a:cubicBezTo>
                <a:cubicBezTo>
                  <a:pt x="400050" y="208637"/>
                  <a:pt x="378867" y="177731"/>
                  <a:pt x="348307" y="163701"/>
                </a:cubicBezTo>
                <a:cubicBezTo>
                  <a:pt x="352961" y="154603"/>
                  <a:pt x="355600" y="144254"/>
                  <a:pt x="355600" y="133350"/>
                </a:cubicBezTo>
                <a:cubicBezTo>
                  <a:pt x="355600" y="96540"/>
                  <a:pt x="325735" y="66675"/>
                  <a:pt x="288925" y="66675"/>
                </a:cubicBezTo>
                <a:cubicBezTo>
                  <a:pt x="276632" y="66675"/>
                  <a:pt x="265172" y="70009"/>
                  <a:pt x="255310" y="75773"/>
                </a:cubicBezTo>
                <a:cubicBezTo>
                  <a:pt x="238571" y="43964"/>
                  <a:pt x="205165" y="22225"/>
                  <a:pt x="166688" y="22225"/>
                </a:cubicBezTo>
                <a:cubicBezTo>
                  <a:pt x="111472" y="22225"/>
                  <a:pt x="66675" y="67022"/>
                  <a:pt x="66675" y="122238"/>
                </a:cubicBezTo>
                <a:cubicBezTo>
                  <a:pt x="66675" y="127794"/>
                  <a:pt x="67161" y="133281"/>
                  <a:pt x="67995" y="138559"/>
                </a:cubicBezTo>
                <a:cubicBezTo>
                  <a:pt x="28476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1"/>
          <p:cNvSpPr/>
          <p:nvPr/>
        </p:nvSpPr>
        <p:spPr>
          <a:xfrm>
            <a:off x="11480800" y="57658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Layer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0" y="6273800"/>
            <a:ext cx="4216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7529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 compressed metadata logs for regional pest migration tracking and heavy model retraining cycles. Eliminates raw image transmission upstream.</a:t>
            </a:r>
            <a:endParaRPr lang="en-US" sz="1600" dirty="0"/>
          </a:p>
        </p:txBody>
      </p:sp>
      <p:pic>
        <p:nvPicPr>
          <p:cNvPr id="25" name="Image 0" descr="https://kimi-img.moonshot.cn/pub/slides/okc/irsuitcrkvbwm/mnt/agents/output/pest-detection-presentation/images/5_Edge_Computing_Makes_Your_Raspberry.png">    </p:cNvPr>
          <p:cNvPicPr>
            <a:picLocks noChangeAspect="1"/>
          </p:cNvPicPr>
          <p:nvPr/>
        </p:nvPicPr>
        <p:blipFill>
          <a:blip r:embed="rId1"/>
          <a:srcRect l="0" r="0" t="5430" b="5430"/>
          <a:stretch/>
        </p:blipFill>
        <p:spPr>
          <a:xfrm>
            <a:off x="8509000" y="1701800"/>
            <a:ext cx="6985000" cy="3556000"/>
          </a:xfrm>
          <a:prstGeom prst="roundRect">
            <a:avLst>
              <a:gd name="adj" fmla="val 4000"/>
            </a:avLst>
          </a:prstGeom>
        </p:spPr>
      </p:pic>
      <p:sp>
        <p:nvSpPr>
          <p:cNvPr id="26" name="Text 2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Objectives and Key Contributions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25600"/>
            <a:ext cx="1473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Primary Objective: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Design, implement, and validate a fully functional, decentralized Mist-Fog-Cloud computing framework enabling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real-time, autonomous pest detection and classification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directly at the agricultural field boundary.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4638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66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CONTRIBUTIONS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149600"/>
            <a:ext cx="4699000" cy="254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3274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3810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Three-Tier Topology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4191000"/>
            <a:ext cx="4191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Mist-Fog-Cloud layout optimized for isolated field environments, demonstrating localized processing eliminates external delays and maintains diagnostic autonomy during network blackouts.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3149600"/>
            <a:ext cx="4699000" cy="254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0" name="Text 18"/>
          <p:cNvSpPr/>
          <p:nvPr/>
        </p:nvSpPr>
        <p:spPr>
          <a:xfrm>
            <a:off x="5969000" y="3327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69000" y="3810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Edge-Tailored Transfer Learning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69000" y="4191000"/>
            <a:ext cx="4191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optimized MobileNetV3-Large core that runs efficiently within strict thermal, memory, and processing boundaries of low-power single-board computers at the farm edge.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668000" y="3149600"/>
            <a:ext cx="4826000" cy="254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4" name="Text 22"/>
          <p:cNvSpPr/>
          <p:nvPr/>
        </p:nvSpPr>
        <p:spPr>
          <a:xfrm>
            <a:off x="10922000" y="3327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22000" y="3810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Data Balancing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22000" y="4191000"/>
            <a:ext cx="4318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dynamic weighted random sampler within the training loop to eliminate majority class bias and ensure high generalization accuracy across deeply skewed agricultural datasets.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943600"/>
            <a:ext cx="7239000" cy="254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6121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6604000"/>
            <a:ext cx="673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Mixed Precision &amp; Early Stopping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69850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AMP configurations and early stopping mechanisms to accelerate optimization convergence, reduce training memory footprints, and prevent overfitting during edge model training.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55000" y="5943600"/>
            <a:ext cx="7239000" cy="254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32" name="Text 30"/>
          <p:cNvSpPr/>
          <p:nvPr/>
        </p:nvSpPr>
        <p:spPr>
          <a:xfrm>
            <a:off x="8509000" y="6121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09000" y="6604000"/>
            <a:ext cx="673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Edge Benchmarking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9000" y="69850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Empirical profiling of the finalized edge core against EfficientNet-B0, ResNet18, and EfficientNetV2-S on physical Raspberry Pi hardware, establishing a generalizable smart farming strategy.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6_Bold_use_of_green_tech_can_foster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RELATED WORK &amp; RESEARCH GAP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of IoT architectures, lightweight deep learning models, and the identified research gap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94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Review: Architectures and Models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ARCHITECTURES &amp; DATA MANAGEMENT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828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22098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Kalyani &amp; Collier [1]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Systematic survey on Cloud-Fog-Edge computing for smart agriculture. Offloading time-sensitive tasks to edge layers drastically reduces latency and energy consumption.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6576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7846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Gomez et al. [2]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FARMIT multi-tier platform for continuous crop quality assessment. Edge plane manages localized monitoring and aggregates heterogeneous sensor data.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2324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3594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Javeed et al. [3]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Intrusion detection system for edge-envisioned smart agriculture. Edge nodes are highly susceptible to tampering and cyber attacks, requiring autonomous security.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8072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69342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Abdalzaher et al. [4]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Quality-Focused IoT data management. Edge nodes must act as intelligent filters, dropping redundant data to avoid network saturation.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DEEP LEARNING MODELS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2082800"/>
            <a:ext cx="7112000" cy="1778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22098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 et al. [5]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Lightweight locality-aware model using MobileNetV3 integrated with YOLO detector for real-time pest detection. Proved that compact architectures drastically reduce parameters and GFLOPs while maintaining or improving mean Average Precision for small pest targets.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4114800"/>
            <a:ext cx="7112000" cy="40894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5" name="Text 23"/>
          <p:cNvSpPr/>
          <p:nvPr/>
        </p:nvSpPr>
        <p:spPr>
          <a:xfrm>
            <a:off x="8636000" y="43180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Synthesis from Literature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4749800"/>
            <a:ext cx="508000" cy="25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8636000" y="4953000"/>
            <a:ext cx="660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literature establishes a clear consensus: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sustainable precision agriculture relies on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decentralized Cloud-Fog-Edge architectures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localized data filtering and secure edge operations.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must be powered by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compressed, lightweight deep learning models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MobileNetV3 for continuous crop and pest assessment.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However, existing works address either architecture or models — rarely both together.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94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Identified Research Gap and Our Approach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701800"/>
            <a:ext cx="7112000" cy="3048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6800" y="195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574800" y="19558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 1: Hardware Neglect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2489200"/>
            <a:ext cx="65532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pest detection studies frequently treat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hardware as an afterthought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ignoring the dynamic queuing delays, packet loss, and network transmission overheads that occur when multiple mist node cameras flood a shared fog workstation simultaneously.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003800"/>
            <a:ext cx="7112000" cy="3048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6800" y="5257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1574800" y="52578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 2: Missing Model Details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6800" y="5791200"/>
            <a:ext cx="65532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Architectural IoT studies outline robust data pathways but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rarely detail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internal transfer learning strategies, class-balancing techniques, or hyperparameter optimizations required to make complex multi-class visual models function accurately within network constraints.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1701800"/>
            <a:ext cx="7112000" cy="6350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21" name="Shape 19"/>
          <p:cNvSpPr/>
          <p:nvPr/>
        </p:nvSpPr>
        <p:spPr>
          <a:xfrm>
            <a:off x="8813800" y="20574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9321800" y="20574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Holistic Approach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63000" y="2667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763000" y="2921000"/>
            <a:ext cx="64262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bridge this divide by proposing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holistic framework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tightly couples: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Mist-Fog-Cloud architectural hierarchy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 meticulously optimized, class-balanced MobileNetV3-Large core.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integrated features: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data augmentation pipeline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mixed precision training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stopping mechanisms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class balancing via weighted random sampler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ensures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intelligence can be reliably deployed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protect crop yields without relying on external cloud connectivity.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3_Edge_Computing_with_Raspberry_Pi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4064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PROPOSED SYSTEM ARCHITECTURE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topology, network modeling, and class-balanced optimization framework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61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Three-Tier Mist-Fog-Cloud Topology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701800"/>
            <a:ext cx="4699000" cy="4191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6800" y="198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5400"/>
                </a:moveTo>
                <a:cubicBezTo>
                  <a:pt x="406400" y="111204"/>
                  <a:pt x="345599" y="182801"/>
                  <a:pt x="264795" y="199549"/>
                </a:cubicBezTo>
                <a:cubicBezTo>
                  <a:pt x="258524" y="153432"/>
                  <a:pt x="237808" y="111919"/>
                  <a:pt x="207248" y="79772"/>
                </a:cubicBezTo>
                <a:cubicBezTo>
                  <a:pt x="239078" y="31750"/>
                  <a:pt x="293608" y="0"/>
                  <a:pt x="355600" y="0"/>
                </a:cubicBezTo>
                <a:lnTo>
                  <a:pt x="381000" y="0"/>
                </a:lnTo>
                <a:cubicBezTo>
                  <a:pt x="395049" y="0"/>
                  <a:pt x="406400" y="11351"/>
                  <a:pt x="406400" y="25400"/>
                </a:cubicBezTo>
                <a:close/>
                <a:moveTo>
                  <a:pt x="0" y="76200"/>
                </a:moveTo>
                <a:cubicBezTo>
                  <a:pt x="0" y="62151"/>
                  <a:pt x="11351" y="50800"/>
                  <a:pt x="25400" y="50800"/>
                </a:cubicBezTo>
                <a:lnTo>
                  <a:pt x="50800" y="50800"/>
                </a:lnTo>
                <a:cubicBezTo>
                  <a:pt x="148987" y="50800"/>
                  <a:pt x="228600" y="130413"/>
                  <a:pt x="228600" y="228600"/>
                </a:cubicBezTo>
                <a:lnTo>
                  <a:pt x="228600" y="381000"/>
                </a:lnTo>
                <a:cubicBezTo>
                  <a:pt x="228600" y="395049"/>
                  <a:pt x="217249" y="406400"/>
                  <a:pt x="203200" y="406400"/>
                </a:cubicBezTo>
                <a:cubicBezTo>
                  <a:pt x="189151" y="406400"/>
                  <a:pt x="177800" y="395049"/>
                  <a:pt x="177800" y="381000"/>
                </a:cubicBezTo>
                <a:lnTo>
                  <a:pt x="177800" y="254000"/>
                </a:lnTo>
                <a:cubicBezTo>
                  <a:pt x="79613" y="254000"/>
                  <a:pt x="0" y="174387"/>
                  <a:pt x="0" y="762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4" name="Text 12"/>
          <p:cNvSpPr/>
          <p:nvPr/>
        </p:nvSpPr>
        <p:spPr>
          <a:xfrm>
            <a:off x="1625600" y="1981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2514600"/>
            <a:ext cx="4089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INGESTION BOUNDARY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2895600"/>
            <a:ext cx="40894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ESP32-CAM, MCUs, camera modules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Pheromone traps, mobile robots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feed capture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cropping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compression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LoRaWAN/Zigbee transmission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88000" y="3556000"/>
            <a:ext cx="381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096000" y="1701800"/>
            <a:ext cx="4699000" cy="4191000"/>
          </a:xfrm>
          <a:prstGeom prst="roundRect">
            <a:avLst>
              <a:gd name="adj" fmla="val 4000"/>
            </a:avLst>
          </a:prstGeom>
          <a:solidFill>
            <a:srgbClr val="52796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98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6959600" y="1981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Fog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514600"/>
            <a:ext cx="4089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LOCALIZED COMPUTATION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2895600"/>
            <a:ext cx="40894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Raspberry Pi, NVIDIA Jetson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On-site farm workstation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Aggregates mist trap feeds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execution queues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MobileNetV3-Large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Diagnostics in milliseconds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internet required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22000" y="3556000"/>
            <a:ext cx="381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430000" y="1701800"/>
            <a:ext cx="4064000" cy="4191000"/>
          </a:xfrm>
          <a:prstGeom prst="roundRect">
            <a:avLst>
              <a:gd name="adj" fmla="val 4000"/>
            </a:avLst>
          </a:prstGeom>
          <a:solidFill>
            <a:srgbClr val="6B70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9400" y="1981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0" y="266700"/>
                </a:moveTo>
                <a:cubicBezTo>
                  <a:pt x="0" y="329803"/>
                  <a:pt x="51197" y="381000"/>
                  <a:pt x="114300" y="381000"/>
                </a:cubicBezTo>
                <a:lnTo>
                  <a:pt x="355600" y="381000"/>
                </a:lnTo>
                <a:cubicBezTo>
                  <a:pt x="411718" y="381000"/>
                  <a:pt x="457200" y="335518"/>
                  <a:pt x="457200" y="279400"/>
                </a:cubicBezTo>
                <a:cubicBezTo>
                  <a:pt x="457200" y="238442"/>
                  <a:pt x="432991" y="203121"/>
                  <a:pt x="398066" y="187087"/>
                </a:cubicBezTo>
                <a:cubicBezTo>
                  <a:pt x="403384" y="176689"/>
                  <a:pt x="406400" y="164862"/>
                  <a:pt x="406400" y="152400"/>
                </a:cubicBezTo>
                <a:cubicBezTo>
                  <a:pt x="406400" y="110331"/>
                  <a:pt x="372269" y="76200"/>
                  <a:pt x="330200" y="76200"/>
                </a:cubicBezTo>
                <a:cubicBezTo>
                  <a:pt x="316151" y="76200"/>
                  <a:pt x="303054" y="80010"/>
                  <a:pt x="291783" y="86598"/>
                </a:cubicBezTo>
                <a:cubicBezTo>
                  <a:pt x="272653" y="50244"/>
                  <a:pt x="234474" y="25400"/>
                  <a:pt x="190500" y="25400"/>
                </a:cubicBezTo>
                <a:cubicBezTo>
                  <a:pt x="127397" y="25400"/>
                  <a:pt x="76200" y="76597"/>
                  <a:pt x="76200" y="139700"/>
                </a:cubicBezTo>
                <a:cubicBezTo>
                  <a:pt x="76200" y="146050"/>
                  <a:pt x="76756" y="152321"/>
                  <a:pt x="77708" y="158353"/>
                </a:cubicBezTo>
                <a:cubicBezTo>
                  <a:pt x="32544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Text 24"/>
          <p:cNvSpPr/>
          <p:nvPr/>
        </p:nvSpPr>
        <p:spPr>
          <a:xfrm>
            <a:off x="12293600" y="19812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Layer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34800" y="2514600"/>
            <a:ext cx="3454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ANALYTICS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34800" y="2895600"/>
            <a:ext cx="34544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Global analytical engine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Compressed metadata logs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Pest migration tracking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retraining cycles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analysis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Closed-loop management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223000"/>
            <a:ext cx="14732000" cy="2159000"/>
          </a:xfrm>
          <a:prstGeom prst="roundRect">
            <a:avLst>
              <a:gd name="adj" fmla="val 3000"/>
            </a:avLst>
          </a:prstGeom>
          <a:solidFill>
            <a:srgbClr val="E8E4DB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64262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Design Principles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6883400"/>
            <a:ext cx="444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operational independence during total external network failures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69000" y="6883400"/>
            <a:ext cx="444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Latency: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 data packages processed within 23.5 milliseconds at the fog layer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95000" y="6883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Bandwidth Efficiency: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compressed metadata transmitted to cloud — raw images stay local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61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Class-Balanced Optimization and Edge Efficiency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 EFFICIENCY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0574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Depthwise Separable Convolutions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Replaces standard convolutions by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decoupling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spatial filtering and channel combination into two separate steps: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1: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Depthwise convolution applies a single spatial filter to each input channel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2: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Pointwise convolution (1x1 kernel) combines channel dimensions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achieves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computational reduction by an order of magnitude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without compromising feature resolution.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 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20574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Challenge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datasets have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severely skewed distributions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common pests heavily outnumber rare, highly destructive species.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Problem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Standard training with uniform cross-entropy loss introduces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majority class bias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network overfits to dominant classes while failing to classify rare targets.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Our Solution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weighted random sampler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computing inverse-probability sampling weights for each class, ensuring balanced batch distributions.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461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689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ARCHITECTURAL FEATURES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121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635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6350000"/>
            <a:ext cx="2489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Inverted Residuals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7818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 low-dimensional tensors into expanded space for feature tracking, then compresses back with linear bottlenecks preserving structural data.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45000" y="6121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3" name="Shape 21"/>
          <p:cNvSpPr/>
          <p:nvPr/>
        </p:nvSpPr>
        <p:spPr>
          <a:xfrm>
            <a:off x="4679950" y="6350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-9525"/>
                </a:moveTo>
                <a:cubicBezTo>
                  <a:pt x="181987" y="-9525"/>
                  <a:pt x="190500" y="-1012"/>
                  <a:pt x="190500" y="9525"/>
                </a:cubicBezTo>
                <a:lnTo>
                  <a:pt x="190500" y="20419"/>
                </a:lnTo>
                <a:cubicBezTo>
                  <a:pt x="248900" y="28754"/>
                  <a:pt x="295096" y="74950"/>
                  <a:pt x="303431" y="133350"/>
                </a:cubicBezTo>
                <a:lnTo>
                  <a:pt x="314325" y="133350"/>
                </a:lnTo>
                <a:cubicBezTo>
                  <a:pt x="324862" y="133350"/>
                  <a:pt x="333375" y="141863"/>
                  <a:pt x="333375" y="152400"/>
                </a:cubicBezTo>
                <a:cubicBezTo>
                  <a:pt x="333375" y="162937"/>
                  <a:pt x="324862" y="171450"/>
                  <a:pt x="314325" y="171450"/>
                </a:cubicBezTo>
                <a:lnTo>
                  <a:pt x="303431" y="171450"/>
                </a:lnTo>
                <a:cubicBezTo>
                  <a:pt x="295096" y="229850"/>
                  <a:pt x="248900" y="276046"/>
                  <a:pt x="190500" y="284381"/>
                </a:cubicBezTo>
                <a:lnTo>
                  <a:pt x="190500" y="295275"/>
                </a:lnTo>
                <a:cubicBezTo>
                  <a:pt x="190500" y="305812"/>
                  <a:pt x="181987" y="314325"/>
                  <a:pt x="171450" y="314325"/>
                </a:cubicBezTo>
                <a:cubicBezTo>
                  <a:pt x="160913" y="314325"/>
                  <a:pt x="152400" y="305812"/>
                  <a:pt x="152400" y="295275"/>
                </a:cubicBezTo>
                <a:lnTo>
                  <a:pt x="152400" y="284381"/>
                </a:lnTo>
                <a:cubicBezTo>
                  <a:pt x="94000" y="276046"/>
                  <a:pt x="47804" y="229850"/>
                  <a:pt x="39469" y="171450"/>
                </a:cubicBezTo>
                <a:lnTo>
                  <a:pt x="28575" y="171450"/>
                </a:lnTo>
                <a:cubicBezTo>
                  <a:pt x="18038" y="171450"/>
                  <a:pt x="9525" y="162937"/>
                  <a:pt x="9525" y="152400"/>
                </a:cubicBezTo>
                <a:cubicBezTo>
                  <a:pt x="9525" y="141863"/>
                  <a:pt x="18038" y="133350"/>
                  <a:pt x="28575" y="133350"/>
                </a:cubicBezTo>
                <a:lnTo>
                  <a:pt x="39469" y="133350"/>
                </a:lnTo>
                <a:cubicBezTo>
                  <a:pt x="47804" y="74950"/>
                  <a:pt x="94000" y="28754"/>
                  <a:pt x="152400" y="20419"/>
                </a:cubicBezTo>
                <a:lnTo>
                  <a:pt x="152400" y="9525"/>
                </a:lnTo>
                <a:cubicBezTo>
                  <a:pt x="152400" y="-1012"/>
                  <a:pt x="160913" y="-9525"/>
                  <a:pt x="171450" y="-9525"/>
                </a:cubicBezTo>
                <a:close/>
                <a:moveTo>
                  <a:pt x="78105" y="171450"/>
                </a:moveTo>
                <a:cubicBezTo>
                  <a:pt x="85665" y="208776"/>
                  <a:pt x="115074" y="238185"/>
                  <a:pt x="152400" y="245745"/>
                </a:cubicBezTo>
                <a:lnTo>
                  <a:pt x="152400" y="238125"/>
                </a:lnTo>
                <a:cubicBezTo>
                  <a:pt x="152400" y="227588"/>
                  <a:pt x="160913" y="219075"/>
                  <a:pt x="171450" y="219075"/>
                </a:cubicBezTo>
                <a:cubicBezTo>
                  <a:pt x="181987" y="219075"/>
                  <a:pt x="190500" y="227588"/>
                  <a:pt x="190500" y="238125"/>
                </a:cubicBezTo>
                <a:lnTo>
                  <a:pt x="190500" y="245745"/>
                </a:lnTo>
                <a:cubicBezTo>
                  <a:pt x="227826" y="238185"/>
                  <a:pt x="257235" y="208776"/>
                  <a:pt x="264795" y="171450"/>
                </a:cubicBezTo>
                <a:lnTo>
                  <a:pt x="257175" y="171450"/>
                </a:lnTo>
                <a:cubicBezTo>
                  <a:pt x="246638" y="171450"/>
                  <a:pt x="238125" y="162937"/>
                  <a:pt x="238125" y="152400"/>
                </a:cubicBezTo>
                <a:cubicBezTo>
                  <a:pt x="238125" y="141863"/>
                  <a:pt x="246638" y="133350"/>
                  <a:pt x="257175" y="133350"/>
                </a:cubicBezTo>
                <a:lnTo>
                  <a:pt x="264795" y="133350"/>
                </a:lnTo>
                <a:cubicBezTo>
                  <a:pt x="257235" y="96024"/>
                  <a:pt x="227826" y="66615"/>
                  <a:pt x="190500" y="59055"/>
                </a:cubicBezTo>
                <a:lnTo>
                  <a:pt x="190500" y="66675"/>
                </a:lnTo>
                <a:cubicBezTo>
                  <a:pt x="190500" y="77212"/>
                  <a:pt x="181987" y="85725"/>
                  <a:pt x="171450" y="85725"/>
                </a:cubicBezTo>
                <a:cubicBezTo>
                  <a:pt x="160913" y="85725"/>
                  <a:pt x="152400" y="77212"/>
                  <a:pt x="152400" y="66675"/>
                </a:cubicBezTo>
                <a:lnTo>
                  <a:pt x="152400" y="59055"/>
                </a:lnTo>
                <a:cubicBezTo>
                  <a:pt x="115074" y="66615"/>
                  <a:pt x="85665" y="96024"/>
                  <a:pt x="78105" y="133350"/>
                </a:cubicBezTo>
                <a:lnTo>
                  <a:pt x="85725" y="133350"/>
                </a:lnTo>
                <a:cubicBezTo>
                  <a:pt x="96262" y="133350"/>
                  <a:pt x="104775" y="141863"/>
                  <a:pt x="104775" y="152400"/>
                </a:cubicBezTo>
                <a:cubicBezTo>
                  <a:pt x="104775" y="162937"/>
                  <a:pt x="96262" y="171450"/>
                  <a:pt x="85725" y="171450"/>
                </a:cubicBezTo>
                <a:lnTo>
                  <a:pt x="78105" y="171450"/>
                </a:lnTo>
                <a:close/>
                <a:moveTo>
                  <a:pt x="171450" y="123825"/>
                </a:moveTo>
                <a:cubicBezTo>
                  <a:pt x="187221" y="123825"/>
                  <a:pt x="200025" y="136629"/>
                  <a:pt x="200025" y="152400"/>
                </a:cubicBezTo>
                <a:cubicBezTo>
                  <a:pt x="200025" y="168171"/>
                  <a:pt x="187221" y="180975"/>
                  <a:pt x="171450" y="180975"/>
                </a:cubicBezTo>
                <a:cubicBezTo>
                  <a:pt x="155679" y="180975"/>
                  <a:pt x="142875" y="168171"/>
                  <a:pt x="142875" y="152400"/>
                </a:cubicBezTo>
                <a:cubicBezTo>
                  <a:pt x="142875" y="136629"/>
                  <a:pt x="155679" y="123825"/>
                  <a:pt x="171450" y="1238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5130800" y="6350000"/>
            <a:ext cx="2489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Coord. Attention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99000" y="67818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Localized coordinate attention and squeeze-and-excitation modules amplify diagnostic landmarks while suppressing ambient trap noise.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8000" y="6121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7" name="Shape 25"/>
          <p:cNvSpPr/>
          <p:nvPr/>
        </p:nvSpPr>
        <p:spPr>
          <a:xfrm>
            <a:off x="8401050" y="6350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8813800" y="6350000"/>
            <a:ext cx="2489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Hard-Swish Activation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82000" y="67818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Replaces expensive sigmoid with piece-wise linear approximation, enabling non-linear activations via basic bitwise operations on edge CPUs.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811000" y="6121400"/>
            <a:ext cx="3683000" cy="2286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26900" y="6350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12496800" y="6350000"/>
            <a:ext cx="2743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Sampler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065000" y="6781800"/>
            <a:ext cx="317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class-balanced sampling ensures every training batch presents uniform distribution, eliminating majority-class overfitting.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1_Neural_Network_Abstract_Over_71_518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4064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 &amp; IMPLEMENTATION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preparation, augmentation pipeline, model architecture, and training configurations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Description and Augmentation Pipeline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0574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distinct insect categories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reflecting real-world smart farming scenarios: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Aphids, Armyworm, Beetle, Bollworm, Grasshopper, Mites, Mosquito, Sawfly, and Stem Borer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Challenges: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Aphids and mites are extremely small — require high-resolution detail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Beetle and sawfly share visual overlaps (torso, coloration, wings)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Severe class imbalance in raw sample distribution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5207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SPLIT</a:t>
            </a:r>
            <a:endParaRPr lang="en-US" sz="16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62000" y="5588000"/>
          <a:ext cx="31750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4191000" y="60960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80:20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training-validation split ensures robust evaluation bounds while maintaining sufficient data for deep transfer learning fine-tuning.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8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AUGMENTATION PIPELINE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2000" y="20574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images standardized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224x224 pixels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ImageNet normalization (mean=[0.485, 0.456, 0.406], std=[0.229, 0.224, 0.225]).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augmentations applied during each epoch to prevent overfitting and improve out-of-domain generalization: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382000" y="38862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0" name="Shape 17"/>
          <p:cNvSpPr/>
          <p:nvPr/>
        </p:nvSpPr>
        <p:spPr>
          <a:xfrm>
            <a:off x="8593138" y="4064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56808" y="204420"/>
                </a:moveTo>
                <a:lnTo>
                  <a:pt x="309195" y="152033"/>
                </a:lnTo>
                <a:cubicBezTo>
                  <a:pt x="316017" y="145212"/>
                  <a:pt x="316017" y="134134"/>
                  <a:pt x="309195" y="127313"/>
                </a:cubicBezTo>
                <a:lnTo>
                  <a:pt x="256808" y="74925"/>
                </a:lnTo>
                <a:cubicBezTo>
                  <a:pt x="249987" y="68104"/>
                  <a:pt x="238909" y="68104"/>
                  <a:pt x="232088" y="74925"/>
                </a:cubicBezTo>
                <a:cubicBezTo>
                  <a:pt x="225266" y="81746"/>
                  <a:pt x="225266" y="92824"/>
                  <a:pt x="232088" y="99645"/>
                </a:cubicBezTo>
                <a:lnTo>
                  <a:pt x="254680" y="122238"/>
                </a:lnTo>
                <a:lnTo>
                  <a:pt x="59591" y="122238"/>
                </a:lnTo>
                <a:lnTo>
                  <a:pt x="82183" y="99645"/>
                </a:lnTo>
                <a:cubicBezTo>
                  <a:pt x="89004" y="92824"/>
                  <a:pt x="89004" y="81746"/>
                  <a:pt x="82183" y="74925"/>
                </a:cubicBezTo>
                <a:cubicBezTo>
                  <a:pt x="75362" y="68104"/>
                  <a:pt x="64284" y="68104"/>
                  <a:pt x="57463" y="74925"/>
                </a:cubicBezTo>
                <a:lnTo>
                  <a:pt x="5075" y="127313"/>
                </a:lnTo>
                <a:cubicBezTo>
                  <a:pt x="1801" y="130587"/>
                  <a:pt x="-55" y="135007"/>
                  <a:pt x="-55" y="139645"/>
                </a:cubicBezTo>
                <a:cubicBezTo>
                  <a:pt x="-55" y="144284"/>
                  <a:pt x="1801" y="148704"/>
                  <a:pt x="5075" y="151978"/>
                </a:cubicBezTo>
                <a:lnTo>
                  <a:pt x="57463" y="204366"/>
                </a:lnTo>
                <a:cubicBezTo>
                  <a:pt x="64284" y="211187"/>
                  <a:pt x="75362" y="211187"/>
                  <a:pt x="82183" y="204366"/>
                </a:cubicBezTo>
                <a:cubicBezTo>
                  <a:pt x="89004" y="197545"/>
                  <a:pt x="89004" y="186467"/>
                  <a:pt x="82183" y="179645"/>
                </a:cubicBezTo>
                <a:lnTo>
                  <a:pt x="59591" y="157053"/>
                </a:lnTo>
                <a:lnTo>
                  <a:pt x="254680" y="157053"/>
                </a:lnTo>
                <a:lnTo>
                  <a:pt x="232088" y="179645"/>
                </a:lnTo>
                <a:cubicBezTo>
                  <a:pt x="225266" y="186467"/>
                  <a:pt x="225266" y="197545"/>
                  <a:pt x="232088" y="204366"/>
                </a:cubicBezTo>
                <a:cubicBezTo>
                  <a:pt x="238909" y="211187"/>
                  <a:pt x="249987" y="211187"/>
                  <a:pt x="256808" y="20436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8"/>
          <p:cNvSpPr/>
          <p:nvPr/>
        </p:nvSpPr>
        <p:spPr>
          <a:xfrm>
            <a:off x="89916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Flips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610600" y="4419600"/>
            <a:ext cx="294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and vertical reflections with probability p = 0.5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065000" y="38862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4" name="Shape 21"/>
          <p:cNvSpPr/>
          <p:nvPr/>
        </p:nvSpPr>
        <p:spPr>
          <a:xfrm>
            <a:off x="12293600" y="406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61992" y="104775"/>
                </a:moveTo>
                <a:lnTo>
                  <a:pt x="266303" y="104775"/>
                </a:lnTo>
                <a:cubicBezTo>
                  <a:pt x="273561" y="104775"/>
                  <a:pt x="279400" y="98936"/>
                  <a:pt x="279400" y="91678"/>
                </a:cubicBezTo>
                <a:lnTo>
                  <a:pt x="279400" y="13097"/>
                </a:lnTo>
                <a:cubicBezTo>
                  <a:pt x="279400" y="7804"/>
                  <a:pt x="276235" y="3001"/>
                  <a:pt x="271324" y="982"/>
                </a:cubicBezTo>
                <a:cubicBezTo>
                  <a:pt x="266412" y="-1037"/>
                  <a:pt x="260792" y="109"/>
                  <a:pt x="257026" y="3820"/>
                </a:cubicBezTo>
                <a:lnTo>
                  <a:pt x="228813" y="32087"/>
                </a:lnTo>
                <a:cubicBezTo>
                  <a:pt x="204639" y="12060"/>
                  <a:pt x="173534" y="0"/>
                  <a:pt x="139700" y="0"/>
                </a:cubicBezTo>
                <a:cubicBezTo>
                  <a:pt x="69304" y="0"/>
                  <a:pt x="11078" y="52060"/>
                  <a:pt x="1419" y="119782"/>
                </a:cubicBezTo>
                <a:cubicBezTo>
                  <a:pt x="55" y="129332"/>
                  <a:pt x="6658" y="138172"/>
                  <a:pt x="16207" y="139536"/>
                </a:cubicBezTo>
                <a:cubicBezTo>
                  <a:pt x="25757" y="140901"/>
                  <a:pt x="34598" y="134243"/>
                  <a:pt x="35962" y="124748"/>
                </a:cubicBezTo>
                <a:cubicBezTo>
                  <a:pt x="43220" y="73943"/>
                  <a:pt x="86931" y="34925"/>
                  <a:pt x="139700" y="34925"/>
                </a:cubicBezTo>
                <a:cubicBezTo>
                  <a:pt x="163929" y="34925"/>
                  <a:pt x="186194" y="43111"/>
                  <a:pt x="203929" y="56917"/>
                </a:cubicBezTo>
                <a:lnTo>
                  <a:pt x="178445" y="82401"/>
                </a:lnTo>
                <a:cubicBezTo>
                  <a:pt x="174680" y="86167"/>
                  <a:pt x="173588" y="91787"/>
                  <a:pt x="175607" y="96699"/>
                </a:cubicBezTo>
                <a:cubicBezTo>
                  <a:pt x="177626" y="101610"/>
                  <a:pt x="182429" y="104775"/>
                  <a:pt x="187722" y="104775"/>
                </a:cubicBezTo>
                <a:lnTo>
                  <a:pt x="261992" y="104775"/>
                </a:lnTo>
                <a:close/>
                <a:moveTo>
                  <a:pt x="278036" y="159618"/>
                </a:moveTo>
                <a:cubicBezTo>
                  <a:pt x="279400" y="150068"/>
                  <a:pt x="272742" y="141228"/>
                  <a:pt x="263247" y="139864"/>
                </a:cubicBezTo>
                <a:cubicBezTo>
                  <a:pt x="253752" y="138499"/>
                  <a:pt x="244857" y="145157"/>
                  <a:pt x="243493" y="154652"/>
                </a:cubicBezTo>
                <a:cubicBezTo>
                  <a:pt x="236235" y="205403"/>
                  <a:pt x="192524" y="244420"/>
                  <a:pt x="139755" y="244420"/>
                </a:cubicBezTo>
                <a:cubicBezTo>
                  <a:pt x="115525" y="244420"/>
                  <a:pt x="93261" y="236235"/>
                  <a:pt x="75525" y="222429"/>
                </a:cubicBezTo>
                <a:lnTo>
                  <a:pt x="100955" y="196999"/>
                </a:lnTo>
                <a:cubicBezTo>
                  <a:pt x="104720" y="193233"/>
                  <a:pt x="105812" y="187613"/>
                  <a:pt x="103793" y="182701"/>
                </a:cubicBezTo>
                <a:cubicBezTo>
                  <a:pt x="101774" y="177790"/>
                  <a:pt x="96971" y="174625"/>
                  <a:pt x="91678" y="174625"/>
                </a:cubicBezTo>
                <a:lnTo>
                  <a:pt x="13097" y="174625"/>
                </a:lnTo>
                <a:cubicBezTo>
                  <a:pt x="5839" y="174625"/>
                  <a:pt x="0" y="180464"/>
                  <a:pt x="0" y="187722"/>
                </a:cubicBezTo>
                <a:lnTo>
                  <a:pt x="0" y="266303"/>
                </a:lnTo>
                <a:cubicBezTo>
                  <a:pt x="0" y="271596"/>
                  <a:pt x="3165" y="276399"/>
                  <a:pt x="8076" y="278418"/>
                </a:cubicBezTo>
                <a:cubicBezTo>
                  <a:pt x="12988" y="280437"/>
                  <a:pt x="18608" y="279291"/>
                  <a:pt x="22374" y="275580"/>
                </a:cubicBezTo>
                <a:lnTo>
                  <a:pt x="50641" y="247313"/>
                </a:lnTo>
                <a:cubicBezTo>
                  <a:pt x="74761" y="267340"/>
                  <a:pt x="105866" y="279400"/>
                  <a:pt x="139700" y="279400"/>
                </a:cubicBezTo>
                <a:cubicBezTo>
                  <a:pt x="210096" y="279400"/>
                  <a:pt x="268322" y="227340"/>
                  <a:pt x="277981" y="15961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2"/>
          <p:cNvSpPr/>
          <p:nvPr/>
        </p:nvSpPr>
        <p:spPr>
          <a:xfrm>
            <a:off x="126746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Affine Rotations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293600" y="4419600"/>
            <a:ext cx="294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Rotations within [-30, +30] degrees for camera angle variations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382000" y="53848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8" name="Shape 25"/>
          <p:cNvSpPr/>
          <p:nvPr/>
        </p:nvSpPr>
        <p:spPr>
          <a:xfrm>
            <a:off x="8593138" y="55626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97244" y="-5512"/>
                </a:moveTo>
                <a:cubicBezTo>
                  <a:pt x="101283" y="-7203"/>
                  <a:pt x="105866" y="-6712"/>
                  <a:pt x="109523" y="-4311"/>
                </a:cubicBezTo>
                <a:lnTo>
                  <a:pt x="157435" y="27449"/>
                </a:lnTo>
                <a:lnTo>
                  <a:pt x="205348" y="-4311"/>
                </a:lnTo>
                <a:cubicBezTo>
                  <a:pt x="209004" y="-6712"/>
                  <a:pt x="213588" y="-7149"/>
                  <a:pt x="217626" y="-5512"/>
                </a:cubicBezTo>
                <a:cubicBezTo>
                  <a:pt x="221665" y="-3874"/>
                  <a:pt x="224502" y="-273"/>
                  <a:pt x="225375" y="3984"/>
                </a:cubicBezTo>
                <a:lnTo>
                  <a:pt x="236781" y="60300"/>
                </a:lnTo>
                <a:lnTo>
                  <a:pt x="293097" y="71705"/>
                </a:lnTo>
                <a:cubicBezTo>
                  <a:pt x="297354" y="72579"/>
                  <a:pt x="300955" y="75525"/>
                  <a:pt x="302592" y="79509"/>
                </a:cubicBezTo>
                <a:cubicBezTo>
                  <a:pt x="304229" y="83493"/>
                  <a:pt x="303793" y="88131"/>
                  <a:pt x="301392" y="91787"/>
                </a:cubicBezTo>
                <a:lnTo>
                  <a:pt x="269632" y="139700"/>
                </a:lnTo>
                <a:lnTo>
                  <a:pt x="301392" y="187613"/>
                </a:lnTo>
                <a:cubicBezTo>
                  <a:pt x="303793" y="191269"/>
                  <a:pt x="304229" y="195853"/>
                  <a:pt x="302592" y="199891"/>
                </a:cubicBezTo>
                <a:cubicBezTo>
                  <a:pt x="300955" y="203929"/>
                  <a:pt x="297354" y="206876"/>
                  <a:pt x="293097" y="207695"/>
                </a:cubicBezTo>
                <a:lnTo>
                  <a:pt x="236726" y="219045"/>
                </a:lnTo>
                <a:lnTo>
                  <a:pt x="225375" y="275416"/>
                </a:lnTo>
                <a:cubicBezTo>
                  <a:pt x="224502" y="279673"/>
                  <a:pt x="221555" y="283274"/>
                  <a:pt x="217572" y="284912"/>
                </a:cubicBezTo>
                <a:cubicBezTo>
                  <a:pt x="213588" y="286549"/>
                  <a:pt x="208950" y="286112"/>
                  <a:pt x="205294" y="283711"/>
                </a:cubicBezTo>
                <a:lnTo>
                  <a:pt x="157381" y="251951"/>
                </a:lnTo>
                <a:lnTo>
                  <a:pt x="109468" y="283711"/>
                </a:lnTo>
                <a:cubicBezTo>
                  <a:pt x="105812" y="286112"/>
                  <a:pt x="101228" y="286549"/>
                  <a:pt x="97190" y="284912"/>
                </a:cubicBezTo>
                <a:cubicBezTo>
                  <a:pt x="93152" y="283274"/>
                  <a:pt x="90205" y="279673"/>
                  <a:pt x="89386" y="275416"/>
                </a:cubicBezTo>
                <a:lnTo>
                  <a:pt x="78036" y="219045"/>
                </a:lnTo>
                <a:lnTo>
                  <a:pt x="21664" y="207640"/>
                </a:lnTo>
                <a:cubicBezTo>
                  <a:pt x="17408" y="206767"/>
                  <a:pt x="13806" y="203820"/>
                  <a:pt x="12169" y="199836"/>
                </a:cubicBezTo>
                <a:cubicBezTo>
                  <a:pt x="10532" y="195853"/>
                  <a:pt x="10969" y="191214"/>
                  <a:pt x="13370" y="187558"/>
                </a:cubicBezTo>
                <a:lnTo>
                  <a:pt x="45130" y="139700"/>
                </a:lnTo>
                <a:lnTo>
                  <a:pt x="13370" y="91787"/>
                </a:lnTo>
                <a:cubicBezTo>
                  <a:pt x="10969" y="88131"/>
                  <a:pt x="10532" y="83547"/>
                  <a:pt x="12169" y="79509"/>
                </a:cubicBezTo>
                <a:cubicBezTo>
                  <a:pt x="13806" y="75471"/>
                  <a:pt x="17408" y="72524"/>
                  <a:pt x="21664" y="71705"/>
                </a:cubicBezTo>
                <a:lnTo>
                  <a:pt x="78036" y="60355"/>
                </a:lnTo>
                <a:lnTo>
                  <a:pt x="89441" y="3984"/>
                </a:lnTo>
                <a:cubicBezTo>
                  <a:pt x="90314" y="-273"/>
                  <a:pt x="93261" y="-3874"/>
                  <a:pt x="97244" y="-5512"/>
                </a:cubicBezTo>
                <a:close/>
                <a:moveTo>
                  <a:pt x="113288" y="139700"/>
                </a:moveTo>
                <a:cubicBezTo>
                  <a:pt x="113288" y="124025"/>
                  <a:pt x="121650" y="109541"/>
                  <a:pt x="135225" y="101704"/>
                </a:cubicBezTo>
                <a:cubicBezTo>
                  <a:pt x="148800" y="93866"/>
                  <a:pt x="165525" y="93866"/>
                  <a:pt x="179100" y="101704"/>
                </a:cubicBezTo>
                <a:cubicBezTo>
                  <a:pt x="192675" y="109541"/>
                  <a:pt x="201037" y="124025"/>
                  <a:pt x="201037" y="139700"/>
                </a:cubicBezTo>
                <a:cubicBezTo>
                  <a:pt x="201037" y="163915"/>
                  <a:pt x="181378" y="183575"/>
                  <a:pt x="157163" y="183575"/>
                </a:cubicBezTo>
                <a:cubicBezTo>
                  <a:pt x="132947" y="183575"/>
                  <a:pt x="113288" y="163915"/>
                  <a:pt x="113288" y="139700"/>
                </a:cubicBezTo>
                <a:close/>
                <a:moveTo>
                  <a:pt x="227231" y="139700"/>
                </a:moveTo>
                <a:cubicBezTo>
                  <a:pt x="227231" y="101028"/>
                  <a:pt x="195834" y="69632"/>
                  <a:pt x="157163" y="69632"/>
                </a:cubicBezTo>
                <a:cubicBezTo>
                  <a:pt x="118491" y="69632"/>
                  <a:pt x="87094" y="101028"/>
                  <a:pt x="87094" y="139700"/>
                </a:cubicBezTo>
                <a:cubicBezTo>
                  <a:pt x="87094" y="164733"/>
                  <a:pt x="100449" y="187864"/>
                  <a:pt x="122128" y="200381"/>
                </a:cubicBezTo>
                <a:cubicBezTo>
                  <a:pt x="143808" y="212897"/>
                  <a:pt x="170517" y="212897"/>
                  <a:pt x="192197" y="200381"/>
                </a:cubicBezTo>
                <a:cubicBezTo>
                  <a:pt x="213876" y="187864"/>
                  <a:pt x="227231" y="164733"/>
                  <a:pt x="227231" y="1397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Text 26"/>
          <p:cNvSpPr/>
          <p:nvPr/>
        </p:nvSpPr>
        <p:spPr>
          <a:xfrm>
            <a:off x="8991600" y="5562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Jittering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610600" y="5918200"/>
            <a:ext cx="294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Brightness, contrast, saturation, hue variation (max factor 0.2)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2065000" y="53848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32" name="Shape 29"/>
          <p:cNvSpPr/>
          <p:nvPr/>
        </p:nvSpPr>
        <p:spPr>
          <a:xfrm>
            <a:off x="12311063" y="55626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7463" y="17463"/>
                </a:moveTo>
                <a:cubicBezTo>
                  <a:pt x="7804" y="17463"/>
                  <a:pt x="0" y="25266"/>
                  <a:pt x="0" y="34925"/>
                </a:cubicBezTo>
                <a:lnTo>
                  <a:pt x="0" y="87313"/>
                </a:lnTo>
                <a:cubicBezTo>
                  <a:pt x="0" y="96971"/>
                  <a:pt x="7804" y="104775"/>
                  <a:pt x="17463" y="104775"/>
                </a:cubicBezTo>
                <a:cubicBezTo>
                  <a:pt x="27121" y="104775"/>
                  <a:pt x="34925" y="96971"/>
                  <a:pt x="34925" y="87313"/>
                </a:cubicBezTo>
                <a:lnTo>
                  <a:pt x="34925" y="52388"/>
                </a:lnTo>
                <a:lnTo>
                  <a:pt x="69850" y="52388"/>
                </a:lnTo>
                <a:cubicBezTo>
                  <a:pt x="79509" y="52388"/>
                  <a:pt x="87313" y="44584"/>
                  <a:pt x="87313" y="34925"/>
                </a:cubicBezTo>
                <a:cubicBezTo>
                  <a:pt x="87313" y="25266"/>
                  <a:pt x="79509" y="17463"/>
                  <a:pt x="69850" y="17463"/>
                </a:cubicBezTo>
                <a:lnTo>
                  <a:pt x="17463" y="17463"/>
                </a:lnTo>
                <a:close/>
                <a:moveTo>
                  <a:pt x="34925" y="192088"/>
                </a:moveTo>
                <a:cubicBezTo>
                  <a:pt x="34925" y="182429"/>
                  <a:pt x="27121" y="174625"/>
                  <a:pt x="17463" y="174625"/>
                </a:cubicBezTo>
                <a:cubicBezTo>
                  <a:pt x="7804" y="174625"/>
                  <a:pt x="0" y="182429"/>
                  <a:pt x="0" y="192088"/>
                </a:cubicBezTo>
                <a:lnTo>
                  <a:pt x="0" y="244475"/>
                </a:lnTo>
                <a:cubicBezTo>
                  <a:pt x="0" y="254134"/>
                  <a:pt x="7804" y="261938"/>
                  <a:pt x="17463" y="261938"/>
                </a:cubicBezTo>
                <a:lnTo>
                  <a:pt x="69850" y="261938"/>
                </a:lnTo>
                <a:cubicBezTo>
                  <a:pt x="79509" y="261938"/>
                  <a:pt x="87313" y="254134"/>
                  <a:pt x="87313" y="244475"/>
                </a:cubicBezTo>
                <a:cubicBezTo>
                  <a:pt x="87313" y="234816"/>
                  <a:pt x="79509" y="227013"/>
                  <a:pt x="69850" y="227013"/>
                </a:cubicBezTo>
                <a:lnTo>
                  <a:pt x="34925" y="227013"/>
                </a:lnTo>
                <a:lnTo>
                  <a:pt x="34925" y="192088"/>
                </a:lnTo>
                <a:close/>
                <a:moveTo>
                  <a:pt x="174625" y="17463"/>
                </a:moveTo>
                <a:cubicBezTo>
                  <a:pt x="164966" y="17463"/>
                  <a:pt x="157163" y="25266"/>
                  <a:pt x="157163" y="34925"/>
                </a:cubicBezTo>
                <a:cubicBezTo>
                  <a:pt x="157163" y="44584"/>
                  <a:pt x="164966" y="52388"/>
                  <a:pt x="174625" y="52388"/>
                </a:cubicBezTo>
                <a:lnTo>
                  <a:pt x="209550" y="52388"/>
                </a:lnTo>
                <a:lnTo>
                  <a:pt x="209550" y="87313"/>
                </a:lnTo>
                <a:cubicBezTo>
                  <a:pt x="209550" y="96971"/>
                  <a:pt x="217354" y="104775"/>
                  <a:pt x="227013" y="104775"/>
                </a:cubicBezTo>
                <a:cubicBezTo>
                  <a:pt x="236671" y="104775"/>
                  <a:pt x="244475" y="96971"/>
                  <a:pt x="244475" y="87313"/>
                </a:cubicBezTo>
                <a:lnTo>
                  <a:pt x="244475" y="34925"/>
                </a:lnTo>
                <a:cubicBezTo>
                  <a:pt x="244475" y="25266"/>
                  <a:pt x="236671" y="17463"/>
                  <a:pt x="227013" y="17463"/>
                </a:cubicBezTo>
                <a:lnTo>
                  <a:pt x="174625" y="17463"/>
                </a:lnTo>
                <a:close/>
                <a:moveTo>
                  <a:pt x="244475" y="192088"/>
                </a:moveTo>
                <a:cubicBezTo>
                  <a:pt x="244475" y="182429"/>
                  <a:pt x="236671" y="174625"/>
                  <a:pt x="227013" y="174625"/>
                </a:cubicBezTo>
                <a:cubicBezTo>
                  <a:pt x="217354" y="174625"/>
                  <a:pt x="209550" y="182429"/>
                  <a:pt x="209550" y="192088"/>
                </a:cubicBezTo>
                <a:lnTo>
                  <a:pt x="209550" y="227013"/>
                </a:lnTo>
                <a:lnTo>
                  <a:pt x="174625" y="227013"/>
                </a:lnTo>
                <a:cubicBezTo>
                  <a:pt x="164966" y="227013"/>
                  <a:pt x="157163" y="234816"/>
                  <a:pt x="157163" y="244475"/>
                </a:cubicBezTo>
                <a:cubicBezTo>
                  <a:pt x="157163" y="254134"/>
                  <a:pt x="164966" y="261938"/>
                  <a:pt x="174625" y="261938"/>
                </a:cubicBezTo>
                <a:lnTo>
                  <a:pt x="227013" y="261938"/>
                </a:lnTo>
                <a:cubicBezTo>
                  <a:pt x="236671" y="261938"/>
                  <a:pt x="244475" y="254134"/>
                  <a:pt x="244475" y="244475"/>
                </a:cubicBezTo>
                <a:lnTo>
                  <a:pt x="244475" y="19208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0"/>
          <p:cNvSpPr/>
          <p:nvPr/>
        </p:nvSpPr>
        <p:spPr>
          <a:xfrm>
            <a:off x="12674600" y="5562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Perspective Transform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2293600" y="5918200"/>
            <a:ext cx="294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0.2 to handle distorted or partially occluded insects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382000" y="69342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36" name="Text 33"/>
          <p:cNvSpPr/>
          <p:nvPr/>
        </p:nvSpPr>
        <p:spPr>
          <a:xfrm>
            <a:off x="8686800" y="7112000"/>
            <a:ext cx="65024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 Justification: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Common pests (aphids, beetle) are majority classes; rare species (sawfly, stem borer) are significantly underrepresented. This justifies the weighted random sampler integration.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MobileNetV3-Large Architecture and Training Setup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0574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Backbone: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MobileNetV3-Large pre-trained on ImageNet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Architectural Components: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Depthwise separable convolutions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reduce parameters and FLOPs by an order of magnitude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Inverted residual blocks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linear bottlenecks — preserve information through deep layers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Squeeze-and-excitation modules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dynamic per-channel excitation weights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Coordinate attention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enhance fine-grained pest tracking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Hard-swish activation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efficient edge CPU execution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546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CONFIGURATIONS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867400"/>
          <a:ext cx="7112000" cy="2667000"/>
        </p:xfrm>
        <a:graphic>
          <a:graphicData uri="http://schemas.openxmlformats.org/drawingml/2006/table">
            <a:tbl>
              <a:tblPr/>
              <a:tblGrid>
                <a:gridCol w="3200400"/>
                <a:gridCol w="39116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Optimizer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AdamW (decoupled weight decay)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Initial Learning Rate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LR Scheduler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Cosine Annealing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Automated Mixed Precision (AMP)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Early Stopping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Patience=5, Min Delta=1e-4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382000" y="16510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7" name="Text 14"/>
          <p:cNvSpPr/>
          <p:nvPr/>
        </p:nvSpPr>
        <p:spPr>
          <a:xfrm>
            <a:off x="8763000" y="1879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SPECIFICATIONS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763000" y="2286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SIZE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63000" y="25400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16.4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63000" y="3048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MEGABYTES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049000" y="2286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GFLOPs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049000" y="25400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049000" y="3048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INFERENCE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335000" y="2286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335000" y="25400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335000" y="3048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PEST CATEGORIES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82000" y="3606800"/>
            <a:ext cx="7112000" cy="492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Balancing Strategy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WeightedRandomSampler computes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inverse-probability sampling weights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each class. Every training batch presents a uniform, balanced distribution — forcing the optimizer to distribute gradient updates evenly across common and minority categories.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Training Optimizations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AdamW optimizer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decoupled weight decay prevents parameter expansion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Cosine annealing LR scheduler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smoothly scales step size for stable convergence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AMP (16-bit forward/backward)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halves memory footprint and doubles processing speed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Early stopping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monitors validation loss, exports optimal parameters, prevents overfitting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4_Agriculture_Analytic_Dashboard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EXPERIMENTAL RESULTS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048000" y="4953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convergence, classification performance, hardware profiling, and model comparison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Training Convergence and Classification Performance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0066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on GPU workstation (16GB VRAM) | Deployment on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Raspberry Pi 4 Model B (4GB RAM)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Raspberry Pi 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5146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667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VAL. ACCURACY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9464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97.33%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91000" y="2743200"/>
            <a:ext cx="12700" cy="812800"/>
          </a:xfrm>
          <a:prstGeom prst="rect">
            <a:avLst/>
          </a:prstGeom>
          <a:solidFill>
            <a:srgbClr val="F8F6F1">
              <a:alpha val="18824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667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PRECISION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9464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98.00%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0" y="2743200"/>
            <a:ext cx="12700" cy="812800"/>
          </a:xfrm>
          <a:prstGeom prst="rect">
            <a:avLst/>
          </a:prstGeom>
          <a:solidFill>
            <a:srgbClr val="F8F6F1">
              <a:alpha val="18824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2667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RECALL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01000" y="29464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98.00%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049000" y="2743200"/>
            <a:ext cx="12700" cy="812800"/>
          </a:xfrm>
          <a:prstGeom prst="rect">
            <a:avLst/>
          </a:prstGeom>
          <a:solidFill>
            <a:srgbClr val="F8F6F1">
              <a:alpha val="18824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0" y="2667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F1-SCORE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0" y="29464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98.00%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4038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CONVERGENCE ANALYSIS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4419600"/>
            <a:ext cx="711200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Loss Trajectory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Cross-entropy loss initiates near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1.4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drops sharply during the first 6 epochs, stabilizing below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0.17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 convergence. Validation loss remains tightly coupled with training curve throughout.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Accuracy Trajectory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Top-1 validation accuracy rises smoothly from below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75%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 high-performance plateau at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97.33%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Minimal gap between training and validation accuracy proves effective regularization.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Early Stopping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Training successfully terminated after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epoch 12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preventing overfitting and exporting optimal parameter weights.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82000" y="4038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CONFUSION MATRIX INSIGHTS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82000" y="4419600"/>
            <a:ext cx="711200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Diagonal Dominance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Highly defined diagonal configuration indicating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 rate of true positive classifications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all 9 pest categories. Directly attributed to the weighted random sampler integration.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Minor Off-Diagonal Scattering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Restricted to isolated local blocks where species share extreme anatomical overlaps — subtle variations in wing venation or identical segmented torso layouts (minor overlaps between bollworm, mites, and sawfly).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per-class F1-scores exceed 0.93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with most achieving 0.98 or 1.00, demonstrating the class-balanced objective function effectively guarded minority class representations.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  <p:pic>
        <p:nvPicPr>
          <p:cNvPr id="31" name="Image 0" descr="https://kimi-img.moonshot.cn/pub/slides/26-05-29-13:18:30-d8ci39lroddc5p1p74c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596" y="685000"/>
            <a:ext cx="5855041" cy="16264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Edge Hardware Profiling and Model Comparison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PROFILING (RASPBERRY PI 4)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57400"/>
            <a:ext cx="14732000" cy="1143000"/>
          </a:xfrm>
          <a:prstGeom prst="roundRect">
            <a:avLst>
              <a:gd name="adj" fmla="val 3000"/>
            </a:avLst>
          </a:prstGeom>
          <a:solidFill>
            <a:srgbClr val="E8E4DB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2159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SIZE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16.4 MB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56000" y="2159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56000" y="2413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0.62 GFLOPs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45200" y="2159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DRAW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452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44.2 MB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34400" y="2159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344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23.5 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23600" y="2159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RATE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236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42.5 FPS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512800" y="21590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USAGE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512800" y="2413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38.4%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3479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COMPARISON BENCHMARK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886200"/>
          <a:ext cx="14732000" cy="3302000"/>
        </p:xfrm>
        <a:graphic>
          <a:graphicData uri="http://schemas.openxmlformats.org/drawingml/2006/table">
            <a:tbl>
              <a:tblPr/>
              <a:tblGrid>
                <a:gridCol w="3241040"/>
                <a:gridCol w="2651760"/>
                <a:gridCol w="2651760"/>
                <a:gridCol w="2651760"/>
                <a:gridCol w="353568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Val Acc (%)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Inference (ms)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Disk Size (MB)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Peak Memory (MB)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MobileNetV3-L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95.78%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5.73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16.07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1,249.68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EfficientNet-B0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97.11%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7.42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15.33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2,358.05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ResNet18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95.56%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2.06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42.65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2,358.05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EfficientNetV2-S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97.33%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16.40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77.01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3,593.29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5279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Balance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>
                        <a:alpha val="8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5279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MobileNetV3-L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>
                        <a:alpha val="800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762000" y="7493000"/>
            <a:ext cx="14732000" cy="1016000"/>
          </a:xfrm>
          <a:prstGeom prst="roundRect">
            <a:avLst>
              <a:gd name="adj" fmla="val 3000"/>
            </a:avLst>
          </a:prstGeom>
          <a:solidFill>
            <a:srgbClr val="1B4332"/>
          </a:solidFill>
          <a:ln/>
        </p:spPr>
      </p:sp>
      <p:sp>
        <p:nvSpPr>
          <p:cNvPr id="29" name="Text 26"/>
          <p:cNvSpPr/>
          <p:nvPr/>
        </p:nvSpPr>
        <p:spPr>
          <a:xfrm>
            <a:off x="1143000" y="7620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MobileNetV3-Large achieves the best operational balance — its peak memory is approximately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half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EfficientNet-B0/ResNet18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one-third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EfficientNetV2-S, preventing thermal throttling and enabling parallel communication tasks on 4GB RAM edge nodes.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7_Agricultural_drone_flying_over_vast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4064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 &amp; FUTURE SCOPE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contributions, environmental and economic impacts, and future research directions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462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Summary, Impact, and Future Directions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CONTRIBUTIONS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57400"/>
            <a:ext cx="7112000" cy="2921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2260600"/>
            <a:ext cx="65024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framework successfully bridges the gap between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resource-constrained edge hardware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complex computer vision tasks: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97.33%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accuracy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0.62 GFLOPs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computational complexity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16.4 MB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footprint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23.5 ms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inference latency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achieved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internet connectivity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&amp; ECONOMIC IMPACT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2057400"/>
            <a:ext cx="711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Environmental Benefits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targeted pesticide application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instead of blanket spraying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Minimizes chemical production costs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Slows pesticide resistance mutations in target species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Protects local ecosystems and water tables from toxic runoff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Economic Benefits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Early detection prevents minor infestations from becoming regional crises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Preserves agricultural yields and secures food supply chains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5257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RESEARCH DIRECTIONS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689600"/>
            <a:ext cx="4699000" cy="2794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4575" y="5943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72244" y="61119"/>
                </a:moveTo>
                <a:lnTo>
                  <a:pt x="227806" y="61119"/>
                </a:lnTo>
                <a:lnTo>
                  <a:pt x="227806" y="94456"/>
                </a:lnTo>
                <a:lnTo>
                  <a:pt x="172244" y="94456"/>
                </a:lnTo>
                <a:lnTo>
                  <a:pt x="172244" y="61119"/>
                </a:lnTo>
                <a:close/>
                <a:moveTo>
                  <a:pt x="166688" y="22225"/>
                </a:moveTo>
                <a:cubicBezTo>
                  <a:pt x="148282" y="22225"/>
                  <a:pt x="133350" y="37157"/>
                  <a:pt x="133350" y="55563"/>
                </a:cubicBezTo>
                <a:lnTo>
                  <a:pt x="133350" y="100013"/>
                </a:lnTo>
                <a:cubicBezTo>
                  <a:pt x="133350" y="118418"/>
                  <a:pt x="148282" y="133350"/>
                  <a:pt x="166688" y="133350"/>
                </a:cubicBezTo>
                <a:lnTo>
                  <a:pt x="177800" y="133350"/>
                </a:lnTo>
                <a:lnTo>
                  <a:pt x="177800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88900" y="200025"/>
                </a:lnTo>
                <a:lnTo>
                  <a:pt x="88900" y="222250"/>
                </a:lnTo>
                <a:lnTo>
                  <a:pt x="77788" y="222250"/>
                </a:lnTo>
                <a:cubicBezTo>
                  <a:pt x="59382" y="222250"/>
                  <a:pt x="44450" y="237182"/>
                  <a:pt x="44450" y="255587"/>
                </a:cubicBezTo>
                <a:lnTo>
                  <a:pt x="44450" y="300038"/>
                </a:lnTo>
                <a:cubicBezTo>
                  <a:pt x="44450" y="318443"/>
                  <a:pt x="59382" y="333375"/>
                  <a:pt x="77788" y="333375"/>
                </a:cubicBezTo>
                <a:lnTo>
                  <a:pt x="144463" y="333375"/>
                </a:lnTo>
                <a:cubicBezTo>
                  <a:pt x="162868" y="333375"/>
                  <a:pt x="177800" y="318443"/>
                  <a:pt x="177800" y="300038"/>
                </a:cubicBezTo>
                <a:lnTo>
                  <a:pt x="177800" y="255587"/>
                </a:lnTo>
                <a:cubicBezTo>
                  <a:pt x="177800" y="237182"/>
                  <a:pt x="162868" y="222250"/>
                  <a:pt x="144463" y="222250"/>
                </a:cubicBezTo>
                <a:lnTo>
                  <a:pt x="133350" y="222250"/>
                </a:lnTo>
                <a:lnTo>
                  <a:pt x="133350" y="200025"/>
                </a:lnTo>
                <a:lnTo>
                  <a:pt x="266700" y="200025"/>
                </a:lnTo>
                <a:lnTo>
                  <a:pt x="266700" y="222250"/>
                </a:lnTo>
                <a:lnTo>
                  <a:pt x="255587" y="222250"/>
                </a:lnTo>
                <a:cubicBezTo>
                  <a:pt x="237182" y="222250"/>
                  <a:pt x="222250" y="237182"/>
                  <a:pt x="222250" y="255587"/>
                </a:cubicBezTo>
                <a:lnTo>
                  <a:pt x="222250" y="300038"/>
                </a:lnTo>
                <a:cubicBezTo>
                  <a:pt x="222250" y="318443"/>
                  <a:pt x="237182" y="333375"/>
                  <a:pt x="25558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255587"/>
                </a:lnTo>
                <a:cubicBezTo>
                  <a:pt x="355600" y="237182"/>
                  <a:pt x="340668" y="222250"/>
                  <a:pt x="322263" y="222250"/>
                </a:cubicBezTo>
                <a:lnTo>
                  <a:pt x="311150" y="222250"/>
                </a:lnTo>
                <a:lnTo>
                  <a:pt x="311150" y="200025"/>
                </a:lnTo>
                <a:lnTo>
                  <a:pt x="377825" y="200025"/>
                </a:lnTo>
                <a:cubicBezTo>
                  <a:pt x="390118" y="200025"/>
                  <a:pt x="400050" y="190093"/>
                  <a:pt x="400050" y="177800"/>
                </a:cubicBezTo>
                <a:cubicBezTo>
                  <a:pt x="400050" y="165507"/>
                  <a:pt x="390118" y="155575"/>
                  <a:pt x="377825" y="155575"/>
                </a:cubicBezTo>
                <a:lnTo>
                  <a:pt x="222250" y="155575"/>
                </a:lnTo>
                <a:lnTo>
                  <a:pt x="222250" y="133350"/>
                </a:lnTo>
                <a:lnTo>
                  <a:pt x="233363" y="133350"/>
                </a:lnTo>
                <a:cubicBezTo>
                  <a:pt x="251768" y="133350"/>
                  <a:pt x="266700" y="118418"/>
                  <a:pt x="266700" y="100013"/>
                </a:cubicBezTo>
                <a:lnTo>
                  <a:pt x="266700" y="55563"/>
                </a:lnTo>
                <a:cubicBezTo>
                  <a:pt x="266700" y="37157"/>
                  <a:pt x="251768" y="22225"/>
                  <a:pt x="233363" y="22225"/>
                </a:cubicBezTo>
                <a:lnTo>
                  <a:pt x="166688" y="22225"/>
                </a:lnTo>
                <a:close/>
                <a:moveTo>
                  <a:pt x="311150" y="261144"/>
                </a:moveTo>
                <a:lnTo>
                  <a:pt x="316706" y="261144"/>
                </a:lnTo>
                <a:lnTo>
                  <a:pt x="316706" y="294481"/>
                </a:lnTo>
                <a:lnTo>
                  <a:pt x="261144" y="294481"/>
                </a:lnTo>
                <a:lnTo>
                  <a:pt x="261144" y="261144"/>
                </a:lnTo>
                <a:lnTo>
                  <a:pt x="311150" y="261144"/>
                </a:lnTo>
                <a:close/>
                <a:moveTo>
                  <a:pt x="133350" y="261144"/>
                </a:moveTo>
                <a:lnTo>
                  <a:pt x="138906" y="261144"/>
                </a:lnTo>
                <a:lnTo>
                  <a:pt x="138906" y="294481"/>
                </a:lnTo>
                <a:lnTo>
                  <a:pt x="83344" y="294481"/>
                </a:lnTo>
                <a:lnTo>
                  <a:pt x="83344" y="261144"/>
                </a:lnTo>
                <a:lnTo>
                  <a:pt x="133350" y="26114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6400800"/>
            <a:ext cx="4089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Federated Learning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" y="6781800"/>
            <a:ext cx="40894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multiple agricultural sites to optimize convolutional layers cooperatively, updating master model weights without exposing private raw field images to external servers.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5689600"/>
            <a:ext cx="4699000" cy="2794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3" name="Shape 21"/>
          <p:cNvSpPr/>
          <p:nvPr/>
        </p:nvSpPr>
        <p:spPr>
          <a:xfrm>
            <a:off x="6019800" y="594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131" y="0"/>
                </a:moveTo>
                <a:cubicBezTo>
                  <a:pt x="268506" y="0"/>
                  <a:pt x="355600" y="87094"/>
                  <a:pt x="355600" y="194469"/>
                </a:cubicBezTo>
                <a:cubicBezTo>
                  <a:pt x="355600" y="203706"/>
                  <a:pt x="348169" y="211138"/>
                  <a:pt x="338931" y="211138"/>
                </a:cubicBezTo>
                <a:cubicBezTo>
                  <a:pt x="329694" y="211138"/>
                  <a:pt x="322263" y="203706"/>
                  <a:pt x="322263" y="194469"/>
                </a:cubicBezTo>
                <a:cubicBezTo>
                  <a:pt x="322263" y="105499"/>
                  <a:pt x="250101" y="33337"/>
                  <a:pt x="161131" y="33337"/>
                </a:cubicBezTo>
                <a:cubicBezTo>
                  <a:pt x="151894" y="33337"/>
                  <a:pt x="144463" y="25906"/>
                  <a:pt x="144463" y="16669"/>
                </a:cubicBezTo>
                <a:cubicBezTo>
                  <a:pt x="144463" y="7431"/>
                  <a:pt x="151894" y="0"/>
                  <a:pt x="161131" y="0"/>
                </a:cubicBezTo>
                <a:close/>
                <a:moveTo>
                  <a:pt x="144463" y="83344"/>
                </a:moveTo>
                <a:cubicBezTo>
                  <a:pt x="144463" y="74106"/>
                  <a:pt x="151894" y="66675"/>
                  <a:pt x="161131" y="66675"/>
                </a:cubicBezTo>
                <a:cubicBezTo>
                  <a:pt x="231696" y="66675"/>
                  <a:pt x="288925" y="123904"/>
                  <a:pt x="288925" y="194469"/>
                </a:cubicBezTo>
                <a:cubicBezTo>
                  <a:pt x="288925" y="203706"/>
                  <a:pt x="281494" y="211138"/>
                  <a:pt x="272256" y="211138"/>
                </a:cubicBezTo>
                <a:cubicBezTo>
                  <a:pt x="263019" y="211138"/>
                  <a:pt x="255587" y="203706"/>
                  <a:pt x="255587" y="194469"/>
                </a:cubicBezTo>
                <a:cubicBezTo>
                  <a:pt x="255587" y="142309"/>
                  <a:pt x="213291" y="100013"/>
                  <a:pt x="161131" y="100013"/>
                </a:cubicBezTo>
                <a:cubicBezTo>
                  <a:pt x="151894" y="100013"/>
                  <a:pt x="144463" y="92581"/>
                  <a:pt x="144463" y="83344"/>
                </a:cubicBezTo>
                <a:close/>
                <a:moveTo>
                  <a:pt x="18336" y="99110"/>
                </a:moveTo>
                <a:cubicBezTo>
                  <a:pt x="24448" y="86678"/>
                  <a:pt x="40838" y="85288"/>
                  <a:pt x="50631" y="95081"/>
                </a:cubicBezTo>
                <a:lnTo>
                  <a:pt x="139879" y="184329"/>
                </a:lnTo>
                <a:lnTo>
                  <a:pt x="162104" y="162104"/>
                </a:lnTo>
                <a:cubicBezTo>
                  <a:pt x="170785" y="153422"/>
                  <a:pt x="184884" y="153422"/>
                  <a:pt x="193566" y="162104"/>
                </a:cubicBezTo>
                <a:cubicBezTo>
                  <a:pt x="202248" y="170785"/>
                  <a:pt x="202248" y="184884"/>
                  <a:pt x="193566" y="193566"/>
                </a:cubicBezTo>
                <a:lnTo>
                  <a:pt x="171341" y="215791"/>
                </a:lnTo>
                <a:lnTo>
                  <a:pt x="260588" y="305038"/>
                </a:lnTo>
                <a:cubicBezTo>
                  <a:pt x="270381" y="314831"/>
                  <a:pt x="268922" y="331153"/>
                  <a:pt x="256560" y="337334"/>
                </a:cubicBezTo>
                <a:cubicBezTo>
                  <a:pt x="232807" y="349071"/>
                  <a:pt x="206137" y="355669"/>
                  <a:pt x="177869" y="355669"/>
                </a:cubicBezTo>
                <a:cubicBezTo>
                  <a:pt x="79663" y="355669"/>
                  <a:pt x="69" y="276076"/>
                  <a:pt x="69" y="177869"/>
                </a:cubicBezTo>
                <a:cubicBezTo>
                  <a:pt x="69" y="149602"/>
                  <a:pt x="6667" y="122863"/>
                  <a:pt x="18405" y="9917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6019800" y="6400800"/>
            <a:ext cx="4089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Multi-Modal Sensor Fusion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19800" y="6781800"/>
            <a:ext cx="40894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visual RGB arrays with real-time environmental telemetry (micro-climate, humidity, soil chemistry) to construct predictive, proactive risk maps for pest outbreaks.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5689600"/>
            <a:ext cx="4826000" cy="2794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28350" y="5943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0" y="6400800"/>
            <a:ext cx="4216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Field Robotics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0" y="6781800"/>
            <a:ext cx="42164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the edge inference core onto autonomous mobile field robots and automated trap actuators to realize a fully self-correcting agricultural protection system.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6_Bold_use_of_green_tech_can_foster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4000"/>
                </a:srgbClr>
              </a:gs>
              <a:gs pos="50000">
                <a:srgbClr val="1B4332">
                  <a:alpha val="88000"/>
                </a:srgbClr>
              </a:gs>
              <a:gs pos="100000">
                <a:srgbClr val="1B4332">
                  <a:alpha val="7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921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spc="600" kern="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18000" y="393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4572000"/>
            <a:ext cx="2540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5080000"/>
            <a:ext cx="762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Sujeet Kumar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56388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M.Sc. Computer Science | University of Delhi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 No: 24234747005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</a:t>
            </a:r>
            <a:pPr algn="ctr">
              <a:lnSpc>
                <a:spcPct val="170000"/>
              </a:lnSpc>
            </a:pPr>
            <a:r>
              <a:rPr lang="en-US" sz="1500" b="1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Dilip Senapati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23000" y="6985000"/>
            <a:ext cx="3810000" cy="508000"/>
          </a:xfrm>
          <a:prstGeom prst="roundRect">
            <a:avLst>
              <a:gd name="adj" fmla="val 10000"/>
            </a:avLst>
          </a:prstGeom>
          <a:solidFill>
            <a:srgbClr val="D4A373"/>
          </a:solidFill>
          <a:ln/>
        </p:spPr>
      </p:sp>
      <p:sp>
        <p:nvSpPr>
          <p:cNvPr id="11" name="Text 8"/>
          <p:cNvSpPr/>
          <p:nvPr/>
        </p:nvSpPr>
        <p:spPr>
          <a:xfrm>
            <a:off x="6223000" y="698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300" kern="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 2025-2026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Mist-Fog-Assisted Real-Time Pest Detection and Classification Framework</dc:title>
  <dc:subject>Mist-Fog-Assisted Real-Time Pest Detection and Classification Framework</dc:subject>
  <dc:creator>Kimi</dc:creator>
  <cp:lastModifiedBy>Kimi</cp:lastModifiedBy>
  <cp:revision>1</cp:revision>
  <dcterms:created xsi:type="dcterms:W3CDTF">2026-05-29T06:12:24Z</dcterms:created>
  <dcterms:modified xsi:type="dcterms:W3CDTF">2026-05-29T06:12:24Z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{"Label":"Mist-Fog-Assisted Real-Time Pest Detection and Classification Framework","ContentProducer":"001191110108MACG2KBH8F10000","ProduceID":"19e71b32-3362-8c6a-8000-000093839dbb","ReservedCode1":"","ContentPropagator":"001191110108MACG2KBH8F20000","PropagateID":"19e71b32-3362-8c6a-8000-000093839dbb","ReservedCode2":""}</vt:lpwstr>
  </property>
</Properties>
</file>