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Poppins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  <p:embeddedFont>
      <p:font typeface="Poppins SemiBold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0867575-2B2D-41E6-89E2-BD27D33D11F8}">
  <a:tblStyle styleId="{B0867575-2B2D-41E6-89E2-BD27D33D11F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regular.fntdata"/><Relationship Id="rId22" Type="http://schemas.openxmlformats.org/officeDocument/2006/relationships/font" Target="fonts/Poppins-italic.fntdata"/><Relationship Id="rId21" Type="http://schemas.openxmlformats.org/officeDocument/2006/relationships/font" Target="fonts/Poppins-bold.fntdata"/><Relationship Id="rId24" Type="http://schemas.openxmlformats.org/officeDocument/2006/relationships/font" Target="fonts/Lato-regular.fntdata"/><Relationship Id="rId23" Type="http://schemas.openxmlformats.org/officeDocument/2006/relationships/font" Target="fonts/Poppi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8" Type="http://schemas.openxmlformats.org/officeDocument/2006/relationships/font" Target="fonts/PoppinsSemiBold-regular.fntdata"/><Relationship Id="rId27" Type="http://schemas.openxmlformats.org/officeDocument/2006/relationships/font" Target="fonts/Lat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SemiBold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SemiBold-boldItalic.fntdata"/><Relationship Id="rId30" Type="http://schemas.openxmlformats.org/officeDocument/2006/relationships/font" Target="fonts/PoppinsSemiBold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9" Type="http://schemas.openxmlformats.org/officeDocument/2006/relationships/image" Target="../media/image16.png"/><Relationship Id="rId5" Type="http://schemas.openxmlformats.org/officeDocument/2006/relationships/image" Target="../media/image20.png"/><Relationship Id="rId6" Type="http://schemas.openxmlformats.org/officeDocument/2006/relationships/image" Target="../media/image8.png"/><Relationship Id="rId7" Type="http://schemas.openxmlformats.org/officeDocument/2006/relationships/image" Target="../media/image12.png"/><Relationship Id="rId8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9" Type="http://schemas.openxmlformats.org/officeDocument/2006/relationships/image" Target="../media/image7.png"/><Relationship Id="rId5" Type="http://schemas.openxmlformats.org/officeDocument/2006/relationships/image" Target="../media/image20.png"/><Relationship Id="rId6" Type="http://schemas.openxmlformats.org/officeDocument/2006/relationships/image" Target="../media/image8.png"/><Relationship Id="rId7" Type="http://schemas.openxmlformats.org/officeDocument/2006/relationships/image" Target="../media/image17.png"/><Relationship Id="rId8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5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23.png"/><Relationship Id="rId5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22.png"/><Relationship Id="rId5" Type="http://schemas.openxmlformats.org/officeDocument/2006/relationships/image" Target="../media/image24.png"/><Relationship Id="rId6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550431" y="2506116"/>
            <a:ext cx="9091136" cy="565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004D40"/>
                </a:solidFill>
                <a:latin typeface="Poppins"/>
                <a:ea typeface="Poppins"/>
                <a:cs typeface="Poppins"/>
                <a:sym typeface="Poppins"/>
              </a:rPr>
              <a:t>Smart Agriculture Pest Detection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096075" y="3262300"/>
            <a:ext cx="7739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A Mist-Fog-Assisted Real-Time Framework Using Deep Transfer Le</a:t>
            </a:r>
            <a:r>
              <a:rPr lang="en-US" sz="180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arning</a:t>
            </a:r>
            <a:r>
              <a:rPr b="0" i="0" lang="en-US" sz="18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/>
          </a:p>
        </p:txBody>
      </p:sp>
      <p:pic>
        <p:nvPicPr>
          <p:cNvPr descr="image.png" id="87" name="Google Shape;8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24500" y="1477416"/>
            <a:ext cx="1143000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3914775" y="4123283"/>
            <a:ext cx="4362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Candidate: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Sujeet Kumar (Roll No. 44)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3914775" y="4542383"/>
            <a:ext cx="4362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Supervisor: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Dr. Dilip Senapati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3914775" y="4961483"/>
            <a:ext cx="4362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Department of Computer Science</a:t>
            </a:r>
            <a:endParaRPr sz="15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University of Delhi</a:t>
            </a:r>
            <a:endParaRPr/>
          </a:p>
        </p:txBody>
      </p:sp>
      <p:pic>
        <p:nvPicPr>
          <p:cNvPr id="91" name="Google Shape;91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43500" y="439188"/>
            <a:ext cx="1905000" cy="187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6" name="Google Shape;9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/>
          <p:nvPr/>
        </p:nvSpPr>
        <p:spPr>
          <a:xfrm>
            <a:off x="5619750" y="2782341"/>
            <a:ext cx="952500" cy="57150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295275" y="3029991"/>
            <a:ext cx="11601450" cy="565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004D40"/>
                </a:solidFill>
                <a:latin typeface="Poppins"/>
                <a:ea typeface="Poppins"/>
                <a:cs typeface="Poppins"/>
                <a:sym typeface="Poppins"/>
              </a:rPr>
              <a:t>Introduction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571500" y="3786187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Revolutionizing Farming with Smart Agriculture 4.0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4" name="Google Shape;10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00300"/>
            <a:ext cx="3492549" cy="2981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400300"/>
            <a:ext cx="3492549" cy="2981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400300"/>
            <a:ext cx="3492549" cy="29813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004D4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Agricultural Crisis</a:t>
            </a:r>
            <a:endParaRPr/>
          </a:p>
        </p:txBody>
      </p:sp>
      <p:sp>
        <p:nvSpPr>
          <p:cNvPr id="109" name="Google Shape;109;p15"/>
          <p:cNvSpPr/>
          <p:nvPr/>
        </p:nvSpPr>
        <p:spPr>
          <a:xfrm>
            <a:off x="571500" y="571500"/>
            <a:ext cx="76200" cy="542925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857250" y="3333750"/>
            <a:ext cx="306710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4D40"/>
                </a:solidFill>
                <a:latin typeface="Poppins"/>
                <a:ea typeface="Poppins"/>
                <a:cs typeface="Poppins"/>
                <a:sym typeface="Poppins"/>
              </a:rPr>
              <a:t>Global Yield Loss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857250" y="3762375"/>
            <a:ext cx="292104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Pests and pathogens account for nearly 30% of annual crop yield losses globally, threatening food security.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4635549" y="3333750"/>
            <a:ext cx="306710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4D40"/>
                </a:solidFill>
                <a:latin typeface="Poppins"/>
                <a:ea typeface="Poppins"/>
                <a:cs typeface="Poppins"/>
                <a:sym typeface="Poppins"/>
              </a:rPr>
              <a:t>Bandwidth Barriers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4635549" y="3762375"/>
            <a:ext cx="292104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High-resolution visual data creates "data storms" that saturate rural networks in purely cloud-centric models.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8413849" y="3333750"/>
            <a:ext cx="306710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4D40"/>
                </a:solidFill>
                <a:latin typeface="Poppins"/>
                <a:ea typeface="Poppins"/>
                <a:cs typeface="Poppins"/>
                <a:sym typeface="Poppins"/>
              </a:rPr>
              <a:t>The Latency Wall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8413849" y="3762375"/>
            <a:ext cx="292104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Real-time detection requires localized processing to ensure immediate actuation (e.g., localized spraying).</a:t>
            </a:r>
            <a:endParaRPr/>
          </a:p>
        </p:txBody>
      </p:sp>
      <p:pic>
        <p:nvPicPr>
          <p:cNvPr descr="image.png" id="116" name="Google Shape;116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7250" y="277177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35549" y="277177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13849" y="2771775"/>
            <a:ext cx="333375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3" name="Google Shape;12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762000" y="762000"/>
            <a:ext cx="50006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004D4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System Architecture</a:t>
            </a:r>
            <a:endParaRPr/>
          </a:p>
        </p:txBody>
      </p:sp>
      <p:sp>
        <p:nvSpPr>
          <p:cNvPr id="125" name="Google Shape;125;p16"/>
          <p:cNvSpPr/>
          <p:nvPr/>
        </p:nvSpPr>
        <p:spPr>
          <a:xfrm>
            <a:off x="571500" y="762000"/>
            <a:ext cx="76200" cy="542925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6" name="Google Shape;12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571500" y="1685925"/>
            <a:ext cx="52006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4D40"/>
                </a:solidFill>
                <a:latin typeface="Poppins"/>
                <a:ea typeface="Poppins"/>
                <a:cs typeface="Poppins"/>
                <a:sym typeface="Poppins"/>
              </a:rPr>
              <a:t>Mist-Fog-Cloud Hierarchy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571500" y="1962150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Our decentralized framework distributes the computational load across three specialized layers to ensure responsiveness and stability.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571500" y="299085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By moving "Cognitive" tasks to the Fog layer and "Reflexive" tasks to the Mist layer, we optimize both speed and accuracy.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4" name="Google Shape;13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00300"/>
            <a:ext cx="3492549" cy="2981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400300"/>
            <a:ext cx="3492549" cy="2981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400300"/>
            <a:ext cx="3492549" cy="298132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004D4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Distributed Intelligence</a:t>
            </a:r>
            <a:endParaRPr/>
          </a:p>
        </p:txBody>
      </p:sp>
      <p:sp>
        <p:nvSpPr>
          <p:cNvPr id="139" name="Google Shape;139;p17"/>
          <p:cNvSpPr/>
          <p:nvPr/>
        </p:nvSpPr>
        <p:spPr>
          <a:xfrm>
            <a:off x="571500" y="571500"/>
            <a:ext cx="76200" cy="542925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 txBox="1"/>
          <p:nvPr/>
        </p:nvSpPr>
        <p:spPr>
          <a:xfrm>
            <a:off x="857250" y="3333750"/>
            <a:ext cx="306710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4D40"/>
                </a:solidFill>
                <a:latin typeface="Poppins"/>
                <a:ea typeface="Poppins"/>
                <a:cs typeface="Poppins"/>
                <a:sym typeface="Poppins"/>
              </a:rPr>
              <a:t>Mist Node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857250" y="3762375"/>
            <a:ext cx="292104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Raspberry Pi 4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Handles image acquisition, noise reduction, and initial TFLite detection.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4635549" y="3333750"/>
            <a:ext cx="306710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4D40"/>
                </a:solidFill>
                <a:latin typeface="Poppins"/>
                <a:ea typeface="Poppins"/>
                <a:cs typeface="Poppins"/>
                <a:sym typeface="Poppins"/>
              </a:rPr>
              <a:t>Fog Node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4635549" y="3762375"/>
            <a:ext cx="292104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Local Server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Performs high-fidelity classification using full DINOv2-ViT model (15ms latency).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8413849" y="3333750"/>
            <a:ext cx="306710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4D40"/>
                </a:solidFill>
                <a:latin typeface="Poppins"/>
                <a:ea typeface="Poppins"/>
                <a:cs typeface="Poppins"/>
                <a:sym typeface="Poppins"/>
              </a:rPr>
              <a:t>Cloud Tier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8413849" y="3762375"/>
            <a:ext cx="292104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Remote Analytics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Manages long-term storage, migration pattern mapping, and model retraining.</a:t>
            </a:r>
            <a:endParaRPr/>
          </a:p>
        </p:txBody>
      </p:sp>
      <p:pic>
        <p:nvPicPr>
          <p:cNvPr descr="image.png" id="146" name="Google Shape;146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7250" y="277177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35549" y="277177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13849" y="2771775"/>
            <a:ext cx="47625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3" name="Google Shape;15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8596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8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004D4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DINOv2: The Vision Transformer</a:t>
            </a:r>
            <a:endParaRPr/>
          </a:p>
        </p:txBody>
      </p:sp>
      <p:sp>
        <p:nvSpPr>
          <p:cNvPr id="156" name="Google Shape;156;p18"/>
          <p:cNvSpPr/>
          <p:nvPr/>
        </p:nvSpPr>
        <p:spPr>
          <a:xfrm>
            <a:off x="571500" y="571500"/>
            <a:ext cx="76200" cy="542925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7" name="Google Shape;15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98596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8"/>
          <p:cNvSpPr txBox="1"/>
          <p:nvPr/>
        </p:nvSpPr>
        <p:spPr>
          <a:xfrm>
            <a:off x="6334125" y="2543175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4D40"/>
                </a:solidFill>
                <a:latin typeface="Poppins"/>
                <a:ea typeface="Poppins"/>
                <a:cs typeface="Poppins"/>
                <a:sym typeface="Poppins"/>
              </a:rPr>
              <a:t>Self-Supervised Feature Extraction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6715125" y="2971800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vits14 Backbone: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Segments images into 14x14 pixel patches for global context.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6715125" y="3724275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Fine-Grained Classification: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Distinguishes 132 pest categories in the Pestopia dataset.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6715125" y="4476750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Label Smoothing (0.1):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Improves generalization on unseen test samples.</a:t>
            </a:r>
            <a:endParaRPr/>
          </a:p>
        </p:txBody>
      </p:sp>
      <p:pic>
        <p:nvPicPr>
          <p:cNvPr descr="image.png" id="162" name="Google Shape;162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297180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372427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4476750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9" name="Google Shape;16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3622030"/>
            <a:ext cx="5286375" cy="699789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9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004D4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Intelligent Offloading Logic</a:t>
            </a:r>
            <a:endParaRPr/>
          </a:p>
        </p:txBody>
      </p:sp>
      <p:sp>
        <p:nvSpPr>
          <p:cNvPr id="172" name="Google Shape;172;p19"/>
          <p:cNvSpPr/>
          <p:nvPr/>
        </p:nvSpPr>
        <p:spPr>
          <a:xfrm>
            <a:off x="571500" y="571500"/>
            <a:ext cx="76200" cy="542925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 txBox="1"/>
          <p:nvPr/>
        </p:nvSpPr>
        <p:spPr>
          <a:xfrm>
            <a:off x="571500" y="3062287"/>
            <a:ext cx="5286375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0" u="none" cap="none" strike="noStrike">
                <a:solidFill>
                  <a:srgbClr val="004D40"/>
                </a:solidFill>
                <a:latin typeface="Poppins"/>
                <a:ea typeface="Poppins"/>
                <a:cs typeface="Poppins"/>
                <a:sym typeface="Poppins"/>
              </a:rPr>
              <a:t>32%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571500" y="4395787"/>
            <a:ext cx="52863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D54F"/>
                </a:solidFill>
                <a:latin typeface="Lato"/>
                <a:ea typeface="Lato"/>
                <a:cs typeface="Lato"/>
                <a:sym typeface="Lato"/>
              </a:rPr>
              <a:t>Offloaded Frames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6334125" y="2545705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4D40"/>
                </a:solidFill>
                <a:latin typeface="Poppins"/>
                <a:ea typeface="Poppins"/>
                <a:cs typeface="Poppins"/>
                <a:sym typeface="Poppins"/>
              </a:rPr>
              <a:t>M/M/1/K Queuing Theory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6334125" y="2821930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To prevent system overflows during pest "bursts", we employ Markov Modulated Poisson Process (MMPP).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6334125" y="4512319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This dynamic calculation ensures a stable monitoring rate of 10 FPS.</a:t>
            </a:r>
            <a:endParaRPr/>
          </a:p>
        </p:txBody>
      </p:sp>
      <p:pic>
        <p:nvPicPr>
          <p:cNvPr id="178" name="Google Shape;178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41801" y="3712225"/>
            <a:ext cx="267101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3" name="Google Shape;18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95425"/>
            <a:ext cx="11049000" cy="479107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0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004D4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Training Accuracy (Pestopia Dataset)</a:t>
            </a:r>
            <a:endParaRPr/>
          </a:p>
        </p:txBody>
      </p:sp>
      <p:sp>
        <p:nvSpPr>
          <p:cNvPr id="186" name="Google Shape;186;p20"/>
          <p:cNvSpPr/>
          <p:nvPr/>
        </p:nvSpPr>
        <p:spPr>
          <a:xfrm>
            <a:off x="571500" y="571500"/>
            <a:ext cx="76200" cy="542925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571500" y="5362575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Validation accuracy peaked at 76.5% following the Stage 2 Fine-tuning transition.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95425"/>
            <a:ext cx="11049000" cy="479107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1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004D4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Latency Comparison (ms)</a:t>
            </a:r>
            <a:endParaRPr/>
          </a:p>
        </p:txBody>
      </p:sp>
      <p:sp>
        <p:nvSpPr>
          <p:cNvPr id="195" name="Google Shape;195;p21"/>
          <p:cNvSpPr/>
          <p:nvPr/>
        </p:nvSpPr>
        <p:spPr>
          <a:xfrm>
            <a:off x="571500" y="571500"/>
            <a:ext cx="76200" cy="542925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1"/>
          <p:cNvSpPr txBox="1"/>
          <p:nvPr/>
        </p:nvSpPr>
        <p:spPr>
          <a:xfrm>
            <a:off x="571500" y="4919662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Fog-layer processing provides an 8x speedup over localized Raspberry Pi inference.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1" name="Google Shape;20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2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004D4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Model Performance Metrics</a:t>
            </a:r>
            <a:endParaRPr/>
          </a:p>
        </p:txBody>
      </p:sp>
      <p:sp>
        <p:nvSpPr>
          <p:cNvPr id="203" name="Google Shape;203;p22"/>
          <p:cNvSpPr/>
          <p:nvPr/>
        </p:nvSpPr>
        <p:spPr>
          <a:xfrm>
            <a:off x="571500" y="571500"/>
            <a:ext cx="76200" cy="542925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4" name="Google Shape;204;p22"/>
          <p:cNvGraphicFramePr/>
          <p:nvPr/>
        </p:nvGraphicFramePr>
        <p:xfrm>
          <a:off x="571500" y="27051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{B0867575-2B2D-41E6-89E2-BD27D33D11F8}</a:tableStyleId>
              </a:tblPr>
              <a:tblGrid>
                <a:gridCol w="2517875"/>
                <a:gridCol w="3312925"/>
                <a:gridCol w="3097550"/>
                <a:gridCol w="2120650"/>
              </a:tblGrid>
              <a:tr h="47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Metric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4D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MobileNetV2 (Baseline)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4D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DINOv2-S (Proposed)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4D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Improvement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4D40"/>
                    </a:solidFill>
                  </a:tcPr>
                </a:tc>
              </a:tr>
              <a:tr h="47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Top-1 Accuracy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63.4%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72.1%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596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+13.7%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Macro F1-Score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0.61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0.71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596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+16.4%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Inference Latency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23.75 ms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7.58 ms (Quantized)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596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+68.1%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Model Size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37.3 MB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12.23 MB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596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+67.2%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5" name="Google Shape;205;p22"/>
          <p:cNvSpPr/>
          <p:nvPr/>
        </p:nvSpPr>
        <p:spPr>
          <a:xfrm>
            <a:off x="571500" y="3633787"/>
            <a:ext cx="251787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2"/>
          <p:cNvSpPr/>
          <p:nvPr/>
        </p:nvSpPr>
        <p:spPr>
          <a:xfrm>
            <a:off x="3089374" y="3633787"/>
            <a:ext cx="33129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2"/>
          <p:cNvSpPr/>
          <p:nvPr/>
        </p:nvSpPr>
        <p:spPr>
          <a:xfrm>
            <a:off x="6402288" y="3633787"/>
            <a:ext cx="309755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2"/>
          <p:cNvSpPr/>
          <p:nvPr/>
        </p:nvSpPr>
        <p:spPr>
          <a:xfrm>
            <a:off x="9499848" y="3633787"/>
            <a:ext cx="21206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2"/>
          <p:cNvSpPr/>
          <p:nvPr/>
        </p:nvSpPr>
        <p:spPr>
          <a:xfrm>
            <a:off x="571500" y="4110037"/>
            <a:ext cx="251787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2"/>
          <p:cNvSpPr/>
          <p:nvPr/>
        </p:nvSpPr>
        <p:spPr>
          <a:xfrm>
            <a:off x="3089374" y="4110037"/>
            <a:ext cx="33129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2"/>
          <p:cNvSpPr/>
          <p:nvPr/>
        </p:nvSpPr>
        <p:spPr>
          <a:xfrm>
            <a:off x="6402288" y="4110037"/>
            <a:ext cx="309755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2"/>
          <p:cNvSpPr/>
          <p:nvPr/>
        </p:nvSpPr>
        <p:spPr>
          <a:xfrm>
            <a:off x="9499848" y="4110037"/>
            <a:ext cx="21206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2"/>
          <p:cNvSpPr/>
          <p:nvPr/>
        </p:nvSpPr>
        <p:spPr>
          <a:xfrm>
            <a:off x="571500" y="4586287"/>
            <a:ext cx="251787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2"/>
          <p:cNvSpPr/>
          <p:nvPr/>
        </p:nvSpPr>
        <p:spPr>
          <a:xfrm>
            <a:off x="3089374" y="4586287"/>
            <a:ext cx="33129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2"/>
          <p:cNvSpPr/>
          <p:nvPr/>
        </p:nvSpPr>
        <p:spPr>
          <a:xfrm>
            <a:off x="6402288" y="4586287"/>
            <a:ext cx="309755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2"/>
          <p:cNvSpPr/>
          <p:nvPr/>
        </p:nvSpPr>
        <p:spPr>
          <a:xfrm>
            <a:off x="9499848" y="4586287"/>
            <a:ext cx="21206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2"/>
          <p:cNvSpPr/>
          <p:nvPr/>
        </p:nvSpPr>
        <p:spPr>
          <a:xfrm>
            <a:off x="571500" y="5062537"/>
            <a:ext cx="251787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2"/>
          <p:cNvSpPr/>
          <p:nvPr/>
        </p:nvSpPr>
        <p:spPr>
          <a:xfrm>
            <a:off x="3089374" y="5062537"/>
            <a:ext cx="33129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2"/>
          <p:cNvSpPr/>
          <p:nvPr/>
        </p:nvSpPr>
        <p:spPr>
          <a:xfrm>
            <a:off x="6402288" y="5062537"/>
            <a:ext cx="309755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2"/>
          <p:cNvSpPr/>
          <p:nvPr/>
        </p:nvSpPr>
        <p:spPr>
          <a:xfrm>
            <a:off x="9499848" y="5062537"/>
            <a:ext cx="21206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5" name="Google Shape;22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490787"/>
            <a:ext cx="5286375" cy="280035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004D4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Conclusion &amp; Future Directions</a:t>
            </a:r>
            <a:endParaRPr/>
          </a:p>
        </p:txBody>
      </p:sp>
      <p:sp>
        <p:nvSpPr>
          <p:cNvPr id="228" name="Google Shape;228;p23"/>
          <p:cNvSpPr/>
          <p:nvPr/>
        </p:nvSpPr>
        <p:spPr>
          <a:xfrm>
            <a:off x="571500" y="571500"/>
            <a:ext cx="76200" cy="542925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3"/>
          <p:cNvSpPr txBox="1"/>
          <p:nvPr/>
        </p:nvSpPr>
        <p:spPr>
          <a:xfrm>
            <a:off x="571500" y="2490787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4D40"/>
                </a:solidFill>
                <a:latin typeface="Poppins"/>
                <a:ea typeface="Poppins"/>
                <a:cs typeface="Poppins"/>
                <a:sym typeface="Poppins"/>
              </a:rPr>
              <a:t>The Next Frontier</a:t>
            </a:r>
            <a:endParaRPr/>
          </a:p>
        </p:txBody>
      </p:sp>
      <p:sp>
        <p:nvSpPr>
          <p:cNvPr id="230" name="Google Shape;230;p23"/>
          <p:cNvSpPr txBox="1"/>
          <p:nvPr/>
        </p:nvSpPr>
        <p:spPr>
          <a:xfrm>
            <a:off x="6619875" y="2824162"/>
            <a:ext cx="4950618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4D40"/>
                </a:solidFill>
                <a:latin typeface="Poppins"/>
                <a:ea typeface="Poppins"/>
                <a:cs typeface="Poppins"/>
                <a:sym typeface="Poppins"/>
              </a:rPr>
              <a:t>Summary</a:t>
            </a:r>
            <a:endParaRPr/>
          </a:p>
        </p:txBody>
      </p:sp>
      <p:sp>
        <p:nvSpPr>
          <p:cNvPr id="231" name="Google Shape;231;p23"/>
          <p:cNvSpPr txBox="1"/>
          <p:nvPr/>
        </p:nvSpPr>
        <p:spPr>
          <a:xfrm>
            <a:off x="6619875" y="3252787"/>
            <a:ext cx="47148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Decentralized computing successfully solves the "Bandwidth Wall" problem in rural IoT.</a:t>
            </a:r>
            <a:endParaRPr/>
          </a:p>
        </p:txBody>
      </p:sp>
      <p:sp>
        <p:nvSpPr>
          <p:cNvPr id="232" name="Google Shape;232;p23"/>
          <p:cNvSpPr txBox="1"/>
          <p:nvPr/>
        </p:nvSpPr>
        <p:spPr>
          <a:xfrm>
            <a:off x="6619875" y="3976687"/>
            <a:ext cx="47148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DINOv2 backbone achieves high-resolution understanding of 132 pest species with superior efficiency.</a:t>
            </a:r>
            <a:endParaRPr/>
          </a:p>
        </p:txBody>
      </p:sp>
      <p:sp>
        <p:nvSpPr>
          <p:cNvPr id="233" name="Google Shape;233;p23"/>
          <p:cNvSpPr txBox="1"/>
          <p:nvPr/>
        </p:nvSpPr>
        <p:spPr>
          <a:xfrm>
            <a:off x="952500" y="2919412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Blockchain Integration: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Ensuring data sovereignty and a verifiable audit trail for pest outbreaks.</a:t>
            </a:r>
            <a:endParaRPr/>
          </a:p>
        </p:txBody>
      </p:sp>
      <p:sp>
        <p:nvSpPr>
          <p:cNvPr id="234" name="Google Shape;234;p23"/>
          <p:cNvSpPr txBox="1"/>
          <p:nvPr/>
        </p:nvSpPr>
        <p:spPr>
          <a:xfrm>
            <a:off x="952500" y="3671887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Mobility-Aware AI: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Adaptive offloading for autonomous tractors and UAV swarms.</a:t>
            </a:r>
            <a:endParaRPr/>
          </a:p>
        </p:txBody>
      </p:sp>
      <p:pic>
        <p:nvPicPr>
          <p:cNvPr descr="image.png" id="235" name="Google Shape;235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91941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671887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1" name="Google Shape;24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4"/>
          <p:cNvSpPr txBox="1"/>
          <p:nvPr/>
        </p:nvSpPr>
        <p:spPr>
          <a:xfrm>
            <a:off x="4535805" y="1991766"/>
            <a:ext cx="3120390" cy="565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004D40"/>
                </a:solidFill>
                <a:latin typeface="Poppins"/>
                <a:ea typeface="Poppins"/>
                <a:cs typeface="Poppins"/>
                <a:sym typeface="Poppins"/>
              </a:rPr>
              <a:t>Thank You!</a:t>
            </a:r>
            <a:endParaRPr/>
          </a:p>
        </p:txBody>
      </p:sp>
      <p:sp>
        <p:nvSpPr>
          <p:cNvPr id="243" name="Google Shape;243;p24"/>
          <p:cNvSpPr txBox="1"/>
          <p:nvPr/>
        </p:nvSpPr>
        <p:spPr>
          <a:xfrm>
            <a:off x="4938712" y="2747962"/>
            <a:ext cx="23145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Questions &amp; Discussion</a:t>
            </a:r>
            <a:endParaRPr/>
          </a:p>
        </p:txBody>
      </p:sp>
      <p:sp>
        <p:nvSpPr>
          <p:cNvPr id="244" name="Google Shape;244;p24"/>
          <p:cNvSpPr txBox="1"/>
          <p:nvPr/>
        </p:nvSpPr>
        <p:spPr>
          <a:xfrm>
            <a:off x="3886200" y="3608933"/>
            <a:ext cx="4419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Candidate: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Sujeet Kumar</a:t>
            </a:r>
            <a:endParaRPr/>
          </a:p>
        </p:txBody>
      </p:sp>
      <p:sp>
        <p:nvSpPr>
          <p:cNvPr id="245" name="Google Shape;245;p24"/>
          <p:cNvSpPr txBox="1"/>
          <p:nvPr/>
        </p:nvSpPr>
        <p:spPr>
          <a:xfrm>
            <a:off x="3886200" y="4028033"/>
            <a:ext cx="4419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Supervisor: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Dr. Dilip Senapati</a:t>
            </a:r>
            <a:endParaRPr/>
          </a:p>
        </p:txBody>
      </p:sp>
      <p:sp>
        <p:nvSpPr>
          <p:cNvPr id="246" name="Google Shape;246;p24"/>
          <p:cNvSpPr txBox="1"/>
          <p:nvPr/>
        </p:nvSpPr>
        <p:spPr>
          <a:xfrm>
            <a:off x="3886200" y="4447133"/>
            <a:ext cx="4419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University of Delhi | Department of Computer Science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1" name="Google Shape;25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5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004D4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Image Sources</a:t>
            </a:r>
            <a:endParaRPr/>
          </a:p>
        </p:txBody>
      </p:sp>
      <p:sp>
        <p:nvSpPr>
          <p:cNvPr id="253" name="Google Shape;253;p25"/>
          <p:cNvSpPr/>
          <p:nvPr/>
        </p:nvSpPr>
        <p:spPr>
          <a:xfrm>
            <a:off x="571500" y="571500"/>
            <a:ext cx="76200" cy="542925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5"/>
          <p:cNvSpPr/>
          <p:nvPr/>
        </p:nvSpPr>
        <p:spPr>
          <a:xfrm>
            <a:off x="571500" y="2718494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5"/>
          <p:cNvSpPr/>
          <p:nvPr/>
        </p:nvSpPr>
        <p:spPr>
          <a:xfrm>
            <a:off x="571500" y="3503265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5"/>
          <p:cNvSpPr/>
          <p:nvPr/>
        </p:nvSpPr>
        <p:spPr>
          <a:xfrm>
            <a:off x="571500" y="349374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5"/>
          <p:cNvSpPr/>
          <p:nvPr/>
        </p:nvSpPr>
        <p:spPr>
          <a:xfrm>
            <a:off x="571500" y="349374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5"/>
          <p:cNvSpPr/>
          <p:nvPr/>
        </p:nvSpPr>
        <p:spPr>
          <a:xfrm>
            <a:off x="571500" y="427851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5"/>
          <p:cNvSpPr/>
          <p:nvPr/>
        </p:nvSpPr>
        <p:spPr>
          <a:xfrm>
            <a:off x="571500" y="427851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60" name="Google Shape;26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6791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5"/>
          <p:cNvSpPr txBox="1"/>
          <p:nvPr/>
        </p:nvSpPr>
        <p:spPr>
          <a:xfrm>
            <a:off x="1666875" y="2861369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https://oldimg.emirates247.com/polopoly/images/2012/07/30/469429.gif</a:t>
            </a:r>
            <a:endParaRPr/>
          </a:p>
        </p:txBody>
      </p:sp>
      <p:sp>
        <p:nvSpPr>
          <p:cNvPr id="262" name="Google Shape;262;p25"/>
          <p:cNvSpPr txBox="1"/>
          <p:nvPr/>
        </p:nvSpPr>
        <p:spPr>
          <a:xfrm>
            <a:off x="1666875" y="3107084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www.emirates247.com</a:t>
            </a:r>
            <a:endParaRPr/>
          </a:p>
        </p:txBody>
      </p:sp>
      <p:pic>
        <p:nvPicPr>
          <p:cNvPr descr="image.png" id="263" name="Google Shape;263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65268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5"/>
          <p:cNvSpPr txBox="1"/>
          <p:nvPr/>
        </p:nvSpPr>
        <p:spPr>
          <a:xfrm>
            <a:off x="1666875" y="3646140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https://encyclopedia.pub/media/item_content/202109/cloudfogedgesmartagriculture-6154309d8ad0a.png</a:t>
            </a:r>
            <a:endParaRPr/>
          </a:p>
        </p:txBody>
      </p:sp>
      <p:sp>
        <p:nvSpPr>
          <p:cNvPr id="265" name="Google Shape;265;p25"/>
          <p:cNvSpPr txBox="1"/>
          <p:nvPr/>
        </p:nvSpPr>
        <p:spPr>
          <a:xfrm>
            <a:off x="1666875" y="3891855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encyclopedia.pub</a:t>
            </a:r>
            <a:endParaRPr/>
          </a:p>
        </p:txBody>
      </p:sp>
      <p:pic>
        <p:nvPicPr>
          <p:cNvPr descr="image.png" id="266" name="Google Shape;266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43745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5"/>
          <p:cNvSpPr txBox="1"/>
          <p:nvPr/>
        </p:nvSpPr>
        <p:spPr>
          <a:xfrm>
            <a:off x="1666875" y="4430910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https://miro.medium.com/v2/resize:fit:1200/0*ud4YfBHblHSlpvXP.png</a:t>
            </a:r>
            <a:endParaRPr/>
          </a:p>
        </p:txBody>
      </p:sp>
      <p:sp>
        <p:nvSpPr>
          <p:cNvPr id="268" name="Google Shape;268;p25"/>
          <p:cNvSpPr txBox="1"/>
          <p:nvPr/>
        </p:nvSpPr>
        <p:spPr>
          <a:xfrm>
            <a:off x="1666875" y="4676626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blog.stackademic.com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