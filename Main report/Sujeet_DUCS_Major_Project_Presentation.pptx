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972800" cy="2011680"/>
          </a:xfrm>
          <a:prstGeom prst="rect">
            <a:avLst/>
          </a:prstGeom>
          <a:noFill/>
        </p:spPr>
        <p:txBody>
          <a:bodyPr wrap="square">
            <a:spAutoFit/>
          </a:bodyPr>
          <a:lstStyle/>
          <a:p>
            <a:pPr>
              <a:defRPr sz="3200" b="1">
                <a:solidFill>
                  <a:srgbClr val="FFFFFF"/>
                </a:solidFill>
                <a:latin typeface="Arial"/>
              </a:defRPr>
            </a:pPr>
            <a:r>
              <a:t>A Mist-Fog-Assisted Real-Time Pest Detection &amp; Classification Framework</a:t>
            </a:r>
          </a:p>
          <a:p>
            <a:pPr>
              <a:spcBef>
                <a:spcPts val="1200"/>
              </a:spcBef>
              <a:defRPr sz="2200" b="1">
                <a:solidFill>
                  <a:srgbClr val="14B8A6"/>
                </a:solidFill>
                <a:latin typeface="Arial"/>
              </a:defRPr>
            </a:pPr>
            <a:r>
              <a:t>Using Deep Transfer Learning for Smart Agriculture 4.0</a:t>
            </a:r>
          </a:p>
        </p:txBody>
      </p:sp>
      <p:sp>
        <p:nvSpPr>
          <p:cNvPr id="4" name="TextBox 3"/>
          <p:cNvSpPr txBox="1"/>
          <p:nvPr/>
        </p:nvSpPr>
        <p:spPr>
          <a:xfrm>
            <a:off x="548640" y="3657600"/>
            <a:ext cx="7315200" cy="1097280"/>
          </a:xfrm>
          <a:prstGeom prst="rect">
            <a:avLst/>
          </a:prstGeom>
          <a:noFill/>
        </p:spPr>
        <p:txBody>
          <a:bodyPr wrap="square">
            <a:spAutoFit/>
          </a:bodyPr>
          <a:lstStyle/>
          <a:p>
            <a:pPr>
              <a:defRPr sz="1300" b="1">
                <a:solidFill>
                  <a:srgbClr val="94A3B8"/>
                </a:solidFill>
                <a:latin typeface="Arial"/>
              </a:defRPr>
            </a:pPr>
            <a:r>
              <a:t>Major Project Report | M.Sc. Computer Science</a:t>
            </a:r>
          </a:p>
          <a:p>
            <a:pPr>
              <a:spcBef>
                <a:spcPts val="600"/>
              </a:spcBef>
              <a:defRPr sz="1200">
                <a:solidFill>
                  <a:srgbClr val="E2E8F0"/>
                </a:solidFill>
                <a:latin typeface="Arial"/>
              </a:defRPr>
            </a:pPr>
            <a:r>
              <a:t>Department of Computer Science, University of Delhi</a:t>
            </a:r>
          </a:p>
        </p:txBody>
      </p:sp>
      <p:sp>
        <p:nvSpPr>
          <p:cNvPr id="5" name="TextBox 4"/>
          <p:cNvSpPr txBox="1"/>
          <p:nvPr/>
        </p:nvSpPr>
        <p:spPr>
          <a:xfrm>
            <a:off x="548640" y="4754880"/>
            <a:ext cx="10972800" cy="1371600"/>
          </a:xfrm>
          <a:prstGeom prst="rect">
            <a:avLst/>
          </a:prstGeom>
          <a:noFill/>
        </p:spPr>
        <p:txBody>
          <a:bodyPr wrap="square">
            <a:spAutoFit/>
          </a:bodyPr>
          <a:lstStyle/>
          <a:p>
            <a:pPr>
              <a:defRPr b="1" sz="1300">
                <a:solidFill>
                  <a:srgbClr val="14B8A6"/>
                </a:solidFill>
              </a:defRPr>
            </a:pPr>
            <a:r>
              <a:t>Candidate: </a:t>
            </a:r>
            <a:r>
              <a:rPr b="0">
                <a:solidFill>
                  <a:srgbClr val="E2E8F0"/>
                </a:solidFill>
              </a:rPr>
              <a:t>SUJEET KUMAR (Roll No. 24234747005 / Course Roll No. 44)</a:t>
            </a:r>
          </a:p>
          <a:p>
            <a:pPr>
              <a:spcBef>
                <a:spcPts val="600"/>
              </a:spcBef>
              <a:defRPr b="1" sz="1300">
                <a:solidFill>
                  <a:srgbClr val="14B8A6"/>
                </a:solidFill>
              </a:defRPr>
            </a:pPr>
            <a:r>
              <a:t>Supervisor: </a:t>
            </a:r>
            <a:r>
              <a:rPr b="0">
                <a:solidFill>
                  <a:srgbClr val="E2E8F0"/>
                </a:solidFill>
              </a:rPr>
              <a:t>DR. DILIP SENAPATI</a:t>
            </a:r>
          </a:p>
          <a:p>
            <a:pPr>
              <a:spcBef>
                <a:spcPts val="600"/>
              </a:spcBef>
              <a:defRPr b="1" sz="1300">
                <a:solidFill>
                  <a:srgbClr val="14B8A6"/>
                </a:solidFill>
              </a:defRPr>
            </a:pPr>
            <a:r>
              <a:t>Academic Year: </a:t>
            </a:r>
            <a:r>
              <a:rPr b="0">
                <a:solidFill>
                  <a:srgbClr val="E2E8F0"/>
                </a:solidFill>
              </a:rPr>
              <a:t>2025-2026 (Submission Date: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Agenda &amp; Structure of Presentation</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972800" cy="4572000"/>
          </a:xfrm>
          <a:prstGeom prst="rect">
            <a:avLst/>
          </a:prstGeom>
          <a:noFill/>
        </p:spPr>
        <p:txBody>
          <a:bodyPr wrap="square">
            <a:spAutoFit/>
          </a:bodyPr>
          <a:lstStyle/>
          <a:p>
            <a:pPr>
              <a:spcAft>
                <a:spcPts val="1400"/>
              </a:spcAft>
            </a:pPr>
            <a:r>
              <a:rPr sz="1600" b="1">
                <a:solidFill>
                  <a:srgbClr val="14B8A6"/>
                </a:solidFill>
                <a:latin typeface="Arial"/>
              </a:rPr>
              <a:t>01   </a:t>
            </a:r>
            <a:r>
              <a:rPr sz="1500" b="1">
                <a:solidFill>
                  <a:srgbClr val="FFFFFF"/>
                </a:solidFill>
                <a:latin typeface="Arial"/>
              </a:rPr>
              <a:t>Introduction &amp; Motivation: </a:t>
            </a:r>
            <a:r>
              <a:rPr sz="1300">
                <a:solidFill>
                  <a:srgbClr val="E2E8F0"/>
                </a:solidFill>
                <a:latin typeface="Arial"/>
              </a:rPr>
              <a:t>The agricultural crisis, crop pest threats, and drawbacks of traditional spraying/cloud dependencies.</a:t>
            </a:r>
          </a:p>
          <a:p>
            <a:pPr>
              <a:spcAft>
                <a:spcPts val="1400"/>
              </a:spcAft>
            </a:pPr>
            <a:r>
              <a:rPr sz="1600" b="1">
                <a:solidFill>
                  <a:srgbClr val="14B8A6"/>
                </a:solidFill>
                <a:latin typeface="Arial"/>
              </a:rPr>
              <a:t>02   </a:t>
            </a:r>
            <a:r>
              <a:rPr sz="1500" b="1">
                <a:solidFill>
                  <a:srgbClr val="FFFFFF"/>
                </a:solidFill>
                <a:latin typeface="Arial"/>
              </a:rPr>
              <a:t>Related Work: </a:t>
            </a:r>
            <a:r>
              <a:rPr sz="1300">
                <a:solidFill>
                  <a:srgbClr val="E2E8F0"/>
                </a:solidFill>
                <a:latin typeface="Arial"/>
              </a:rPr>
              <a:t>Edge computing IoT topologies in smart farming and lightweight deep learning classifiers.</a:t>
            </a:r>
          </a:p>
          <a:p>
            <a:pPr>
              <a:spcAft>
                <a:spcPts val="1400"/>
              </a:spcAft>
            </a:pPr>
            <a:r>
              <a:rPr sz="1600" b="1">
                <a:solidFill>
                  <a:srgbClr val="14B8A6"/>
                </a:solidFill>
                <a:latin typeface="Arial"/>
              </a:rPr>
              <a:t>03   </a:t>
            </a:r>
            <a:r>
              <a:rPr sz="1500" b="1">
                <a:solidFill>
                  <a:srgbClr val="FFFFFF"/>
                </a:solidFill>
                <a:latin typeface="Arial"/>
              </a:rPr>
              <a:t>System Architecture &amp; Modeling: </a:t>
            </a:r>
            <a:r>
              <a:rPr sz="1300">
                <a:solidFill>
                  <a:srgbClr val="E2E8F0"/>
                </a:solidFill>
                <a:latin typeface="Arial"/>
              </a:rPr>
              <a:t>Three-tier Mist-Fog-Cloud topology, M/M/1 queuing modeling, and class-balanced formulas.</a:t>
            </a:r>
          </a:p>
          <a:p>
            <a:pPr>
              <a:spcAft>
                <a:spcPts val="1400"/>
              </a:spcAft>
            </a:pPr>
            <a:r>
              <a:rPr sz="1600" b="1">
                <a:solidFill>
                  <a:srgbClr val="14B8A6"/>
                </a:solidFill>
                <a:latin typeface="Arial"/>
              </a:rPr>
              <a:t>04   </a:t>
            </a:r>
            <a:r>
              <a:rPr sz="1500" b="1">
                <a:solidFill>
                  <a:srgbClr val="FFFFFF"/>
                </a:solidFill>
                <a:latin typeface="Arial"/>
              </a:rPr>
              <a:t>Methodology &amp; Implementation: </a:t>
            </a:r>
            <a:r>
              <a:rPr sz="1300">
                <a:solidFill>
                  <a:srgbClr val="E2E8F0"/>
                </a:solidFill>
                <a:latin typeface="Arial"/>
              </a:rPr>
              <a:t>9 pest categories dataset, spatial augmentations, customized MobileNetV3-Large, and training configurations.</a:t>
            </a:r>
          </a:p>
          <a:p>
            <a:pPr>
              <a:spcAft>
                <a:spcPts val="1400"/>
              </a:spcAft>
            </a:pPr>
            <a:r>
              <a:rPr sz="1600" b="1">
                <a:solidFill>
                  <a:srgbClr val="14B8A6"/>
                </a:solidFill>
                <a:latin typeface="Arial"/>
              </a:rPr>
              <a:t>05   </a:t>
            </a:r>
            <a:r>
              <a:rPr sz="1500" b="1">
                <a:solidFill>
                  <a:srgbClr val="FFFFFF"/>
                </a:solidFill>
                <a:latin typeface="Arial"/>
              </a:rPr>
              <a:t>Experimental Results &amp; Discussions: </a:t>
            </a:r>
            <a:r>
              <a:rPr sz="1300">
                <a:solidFill>
                  <a:srgbClr val="E2E8F0"/>
                </a:solidFill>
                <a:latin typeface="Arial"/>
              </a:rPr>
              <a:t>Training convergence, confusion matrix, metric spreads, hardware latency, and model benchmarking.</a:t>
            </a:r>
          </a:p>
          <a:p>
            <a:pPr>
              <a:spcAft>
                <a:spcPts val="1400"/>
              </a:spcAft>
            </a:pPr>
            <a:r>
              <a:rPr sz="1600" b="1">
                <a:solidFill>
                  <a:srgbClr val="14B8A6"/>
                </a:solidFill>
                <a:latin typeface="Arial"/>
              </a:rPr>
              <a:t>06   </a:t>
            </a:r>
            <a:r>
              <a:rPr sz="1500" b="1">
                <a:solidFill>
                  <a:srgbClr val="FFFFFF"/>
                </a:solidFill>
                <a:latin typeface="Arial"/>
              </a:rPr>
              <a:t>Conclusion &amp; Future Directions: </a:t>
            </a:r>
            <a:r>
              <a:rPr sz="1300">
                <a:solidFill>
                  <a:srgbClr val="E2E8F0"/>
                </a:solidFill>
                <a:latin typeface="Arial"/>
              </a:rPr>
              <a:t>Key research contributions, environmental impacts, and future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Introduction: Problem &amp; Motivation</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972800" cy="4572000"/>
          </a:xfrm>
          <a:prstGeom prst="rect">
            <a:avLst/>
          </a:prstGeom>
          <a:noFill/>
        </p:spPr>
        <p:txBody>
          <a:bodyPr wrap="square">
            <a:spAutoFit/>
          </a:bodyPr>
          <a:lstStyle/>
          <a:p>
            <a:pPr>
              <a:spcAft>
                <a:spcPts val="800"/>
              </a:spcAft>
              <a:defRPr sz="1800" b="1">
                <a:solidFill>
                  <a:srgbClr val="F59E0B"/>
                </a:solidFill>
                <a:latin typeface="Arial"/>
              </a:defRPr>
            </a:pPr>
            <a:r>
              <a:t>The Agricultural Crisis: Crop Pest Threats</a:t>
            </a:r>
          </a:p>
          <a:p>
            <a:pPr>
              <a:spcAft>
                <a:spcPts val="1800"/>
              </a:spcAft>
              <a:defRPr sz="1300">
                <a:solidFill>
                  <a:srgbClr val="E2E8F0"/>
                </a:solidFill>
                <a:latin typeface="Arial"/>
              </a:defRPr>
            </a:pPr>
            <a:r>
              <a:t>• Insect pest infestations are responsible for destroying between 20% to 40% of global crop yields annually, leading to hundreds of billions of dollars in losses and threatening global food security.</a:t>
            </a:r>
            <a:br/>
            <a:r>
              <a:t>• Manual inspection is labor-intensive, slow, and highly subjective, usually resulting in delayed, reactionary farm-wide chemical spraying. This indiscriminate application increases pesticide resistance, soil/water toxicity, and production costs.</a:t>
            </a:r>
          </a:p>
          <a:p>
            <a:pPr>
              <a:spcBef>
                <a:spcPts val="1200"/>
              </a:spcBef>
              <a:spcAft>
                <a:spcPts val="800"/>
              </a:spcAft>
              <a:defRPr sz="1800" b="1">
                <a:solidFill>
                  <a:srgbClr val="F59E0B"/>
                </a:solidFill>
                <a:latin typeface="Arial"/>
              </a:defRPr>
            </a:pPr>
            <a:r>
              <a:t>The Infrastructure Crisis: Network &amp; Compute Bottlenecks</a:t>
            </a:r>
          </a:p>
          <a:p>
            <a:pPr>
              <a:defRPr sz="1300">
                <a:solidFill>
                  <a:srgbClr val="E2E8F0"/>
                </a:solidFill>
                <a:latin typeface="Arial"/>
              </a:defRPr>
            </a:pPr>
            <a:r>
              <a:t>• Purely Cloud-Centric layouts require sending uncompressed, high-resolution visual streams from hundreds of farm cameras to distant servers. Remote fields suffer from weak, latent, or absent wireless signals, creating a severe bandwidth wall and packet loss.</a:t>
            </a:r>
            <a:br/>
            <a:r>
              <a:t>• Purely Local Edge Inference (e.g. on ESP32 or small devices) is heavily constrained by limited processing power, restricted volatile memory, and tight thermal limits. Massive deep learning networks lead to memory faults, high response latencies, and rapid battery depletion.</a:t>
            </a:r>
            <a:br/>
            <a:r>
              <a:t>• Solution: A decentralized Edge Intelligence paradigm running a lightweight model within a multi-tiered Mist-Fog-Cloud computing framework.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Proposed Three-Tier Mist-Fog-Cloud Architecture</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972800" cy="4572000"/>
          </a:xfrm>
          <a:prstGeom prst="rect">
            <a:avLst/>
          </a:prstGeom>
          <a:noFill/>
        </p:spPr>
        <p:txBody>
          <a:bodyPr wrap="square">
            <a:spAutoFit/>
          </a:bodyPr>
          <a:lstStyle/>
          <a:p>
            <a:pPr>
              <a:spcBef>
                <a:spcPts val="1000"/>
              </a:spcBef>
              <a:spcAft>
                <a:spcPts val="400"/>
              </a:spcAft>
              <a:defRPr sz="1600" b="1">
                <a:solidFill>
                  <a:srgbClr val="14B8A6"/>
                </a:solidFill>
                <a:latin typeface="Arial"/>
              </a:defRPr>
            </a:pPr>
            <a:r>
              <a:t>■  MIST LAYER (Extreme Field Edge)</a:t>
            </a:r>
          </a:p>
          <a:p>
            <a:pPr>
              <a:spcAft>
                <a:spcPts val="1000"/>
              </a:spcAft>
              <a:defRPr sz="1300">
                <a:solidFill>
                  <a:srgbClr val="E2E8F0"/>
                </a:solidFill>
                <a:latin typeface="Arial"/>
              </a:defRPr>
            </a:pPr>
            <a:r>
              <a:t>Consists of battery-powered visual sensors and camera modules inside pheromone traps or inspection robots. Performs zero-energy data capture, regions-of-interest cropping (removing background noise to reduce payload), and broadcasts compressed image packets via LoRaWAN/Wi-Fi mesh.</a:t>
            </a:r>
          </a:p>
          <a:p>
            <a:pPr>
              <a:spcBef>
                <a:spcPts val="1000"/>
              </a:spcBef>
              <a:spcAft>
                <a:spcPts val="400"/>
              </a:spcAft>
              <a:defRPr sz="1600" b="1">
                <a:solidFill>
                  <a:srgbClr val="14B8A6"/>
                </a:solidFill>
                <a:latin typeface="Arial"/>
              </a:defRPr>
            </a:pPr>
            <a:r>
              <a:t>■  FOG LAYER (Localized Processing Gateway)</a:t>
            </a:r>
          </a:p>
          <a:p>
            <a:pPr>
              <a:spcAft>
                <a:spcPts val="1000"/>
              </a:spcAft>
              <a:defRPr sz="1300">
                <a:solidFill>
                  <a:srgbClr val="E2E8F0"/>
                </a:solidFill>
                <a:latin typeface="Arial"/>
              </a:defRPr>
            </a:pPr>
            <a:r>
              <a:t>Located on-site within farm workstations or intermediate single-board computers (Raspberry Pi 4, Jetson AGX). Aggregates incoming visual feeds, manages Execution Queues, and executes the core lightweight MobileNetV3-Large model to perform real-time, low-latency insect classification without relying on external internet coverage.</a:t>
            </a:r>
          </a:p>
          <a:p>
            <a:pPr>
              <a:spcBef>
                <a:spcPts val="1000"/>
              </a:spcBef>
              <a:spcAft>
                <a:spcPts val="400"/>
              </a:spcAft>
              <a:defRPr sz="1600" b="1">
                <a:solidFill>
                  <a:srgbClr val="14B8A6"/>
                </a:solidFill>
                <a:latin typeface="Arial"/>
              </a:defRPr>
            </a:pPr>
            <a:r>
              <a:t>■  CLOUD LAYER (Strategic Retraining &amp; Archiving)</a:t>
            </a:r>
          </a:p>
          <a:p>
            <a:pPr>
              <a:spcAft>
                <a:spcPts val="1000"/>
              </a:spcAft>
              <a:defRPr sz="1300">
                <a:solidFill>
                  <a:srgbClr val="E2E8F0"/>
                </a:solidFill>
                <a:latin typeface="Arial"/>
              </a:defRPr>
            </a:pPr>
            <a:r>
              <a:t>Remote server data centers that receive only periodic, low-bandwidth batch updates of aggregated metadata logs and infestation coordinates. Aggregates micro-logs from multiple regional farms to construct macro-level migration risk maps and retrains the model if accuracy drift occurs.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Mathematical Modeling: Queuing &amp; Latency Bounds</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972800" cy="4572000"/>
          </a:xfrm>
          <a:prstGeom prst="rect">
            <a:avLst/>
          </a:prstGeom>
          <a:noFill/>
        </p:spPr>
        <p:txBody>
          <a:bodyPr wrap="square">
            <a:spAutoFit/>
          </a:bodyPr>
          <a:lstStyle/>
          <a:p>
            <a:pPr>
              <a:spcAft>
                <a:spcPts val="400"/>
              </a:spcAft>
              <a:defRPr sz="1600" b="1">
                <a:solidFill>
                  <a:srgbClr val="14B8A6"/>
                </a:solidFill>
                <a:latin typeface="Arial"/>
              </a:defRPr>
            </a:pPr>
            <a:r>
              <a:t>1. Network Transmission Delay</a:t>
            </a:r>
          </a:p>
          <a:p>
            <a:pPr>
              <a:spcAft>
                <a:spcPts val="1400"/>
              </a:spcAft>
              <a:defRPr sz="1300">
                <a:solidFill>
                  <a:srgbClr val="E2E8F0"/>
                </a:solidFill>
                <a:latin typeface="Arial"/>
              </a:defRPr>
            </a:pPr>
            <a:r>
              <a:t>The communication delay for a visual data packet of size S_k (bits) from a mist node to a fog node is modeled as:</a:t>
            </a:r>
            <a:br/>
            <a:r>
              <a:t>         T_net(k) = (S_k / C_k) + delta_prop</a:t>
            </a:r>
            <a:br/>
            <a:r>
              <a:t>where C_k is the wireless channel capacity (bps) and delta_prop is the physical propagation delay.</a:t>
            </a:r>
          </a:p>
          <a:p>
            <a:pPr>
              <a:spcBef>
                <a:spcPts val="800"/>
              </a:spcBef>
              <a:spcAft>
                <a:spcPts val="400"/>
              </a:spcAft>
              <a:defRPr sz="1600" b="1">
                <a:solidFill>
                  <a:srgbClr val="14B8A6"/>
                </a:solidFill>
                <a:latin typeface="Arial"/>
              </a:defRPr>
            </a:pPr>
            <a:r>
              <a:t>2. Fog Server Processing Queue (M/M/1 Model)</a:t>
            </a:r>
          </a:p>
          <a:p>
            <a:pPr>
              <a:defRPr sz="1300">
                <a:solidFill>
                  <a:srgbClr val="E2E8F0"/>
                </a:solidFill>
                <a:latin typeface="Arial"/>
              </a:defRPr>
            </a:pPr>
            <a:r>
              <a:t>• Ingests image packets from K distributed mist traps at an aggregate Poisson rate Lambda = sum(lambda_k).</a:t>
            </a:r>
            <a:br/>
            <a:r>
              <a:t>• Stability bound: Fog node service rate mu_fog must exceed arrival rate Lambda, preserving system utilization rho = Lambda / mu_fog &lt; 1.</a:t>
            </a:r>
            <a:br/>
            <a:r>
              <a:t>• The expected waiting and queuing time W_queue in the fog gateway buffer is modeled via the Pollaczek-Khinchine formula:</a:t>
            </a:r>
            <a:br/>
            <a:r>
              <a:t>         W_queue = Lambda / (2 * mu_fog * (mu_fog - Lambda))</a:t>
            </a:r>
            <a:br/>
            <a:r>
              <a:t>• Minimizing W_queue prevents packet drops and buffer overflows during sudden pest swarms.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Mathematical Modeling: Execution Bounds &amp; Separability</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972800" cy="4572000"/>
          </a:xfrm>
          <a:prstGeom prst="rect">
            <a:avLst/>
          </a:prstGeom>
          <a:noFill/>
        </p:spPr>
        <p:txBody>
          <a:bodyPr wrap="square">
            <a:spAutoFit/>
          </a:bodyPr>
          <a:lstStyle/>
          <a:p>
            <a:pPr>
              <a:spcAft>
                <a:spcPts val="400"/>
              </a:spcAft>
              <a:defRPr sz="1600" b="1">
                <a:solidFill>
                  <a:srgbClr val="14B8A6"/>
                </a:solidFill>
                <a:latin typeface="Arial"/>
              </a:defRPr>
            </a:pPr>
            <a:r>
              <a:t>1. Local Execution Latency Bounding</a:t>
            </a:r>
          </a:p>
          <a:p>
            <a:pPr>
              <a:spcAft>
                <a:spcPts val="1400"/>
              </a:spcAft>
              <a:defRPr sz="1300">
                <a:solidFill>
                  <a:srgbClr val="E2E8F0"/>
                </a:solidFill>
                <a:latin typeface="Arial"/>
              </a:defRPr>
            </a:pPr>
            <a:r>
              <a:t>The time required for a forward inference pass on the edge GPU/CPU is bounded by the hardware constraints:</a:t>
            </a:r>
            <a:br/>
            <a:r>
              <a:t>         T_exec &gt;= (2 * Phi) / (Gamma * eta_hardware) + Delta_memory</a:t>
            </a:r>
            <a:br/>
            <a:r>
              <a:t>where Phi is the MAC operations, Gamma is the peak FLOPS throughput, eta_hardware is the hardware efficiency, and Delta_memory is the tensor data serialization delay.</a:t>
            </a:r>
          </a:p>
          <a:p>
            <a:pPr>
              <a:spcBef>
                <a:spcPts val="800"/>
              </a:spcBef>
              <a:spcAft>
                <a:spcPts val="400"/>
              </a:spcAft>
              <a:defRPr sz="1600" b="1">
                <a:solidFill>
                  <a:srgbClr val="14B8A6"/>
                </a:solidFill>
                <a:latin typeface="Arial"/>
              </a:defRPr>
            </a:pPr>
            <a:r>
              <a:t>2. Depthwise Separable Convolution Complexity Reduction</a:t>
            </a:r>
          </a:p>
          <a:p>
            <a:pPr>
              <a:defRPr sz="1300">
                <a:solidFill>
                  <a:srgbClr val="E2E8F0"/>
                </a:solidFill>
                <a:latin typeface="Arial"/>
              </a:defRPr>
            </a:pPr>
            <a:r>
              <a:t>• Standard convolution convolves spatial features and channel depths simultaneously, which is computationally expensive.</a:t>
            </a:r>
            <a:br/>
            <a:r>
              <a:t>• Depthwise Separable Convolution splits this into: (a) Depthwise spatial filtering, and (b) Pointwise channel linear mapping.</a:t>
            </a:r>
            <a:br/>
            <a:r>
              <a:t>• The computational reduction ratio is mathematically defined as:</a:t>
            </a:r>
            <a:br/>
            <a:r>
              <a:t>         sigma_comp = (D_K^2 * D_in * H * W + D_in * D_out * H * W) / (D_K^2 * D_in * D_out * H * W) = (1 / D_out) + (1 / D_K^2)</a:t>
            </a:r>
            <a:br/>
            <a:r>
              <a:t>• For standard D_K = 3 kernels and D_out &gt;&gt; 1, this guarantees an approximate 9x computational reduction (D_K^2), allowing full model parameter arrays to fit completely within localized edge caches.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Mathematical Modeling: Class-Balanced Optimization</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972800" cy="4572000"/>
          </a:xfrm>
          <a:prstGeom prst="rect">
            <a:avLst/>
          </a:prstGeom>
          <a:noFill/>
        </p:spPr>
        <p:txBody>
          <a:bodyPr wrap="square">
            <a:spAutoFit/>
          </a:bodyPr>
          <a:lstStyle/>
          <a:p>
            <a:pPr>
              <a:spcAft>
                <a:spcPts val="400"/>
              </a:spcAft>
              <a:defRPr sz="1600" b="1">
                <a:solidFill>
                  <a:srgbClr val="F59E0B"/>
                </a:solidFill>
                <a:latin typeface="Arial"/>
              </a:defRPr>
            </a:pPr>
            <a:r>
              <a:t>The Skew Problem in Agricultural Tracking</a:t>
            </a:r>
          </a:p>
          <a:p>
            <a:pPr>
              <a:spcAft>
                <a:spcPts val="1200"/>
              </a:spcAft>
              <a:defRPr sz="1300">
                <a:solidFill>
                  <a:srgbClr val="E2E8F0"/>
                </a:solidFill>
                <a:latin typeface="Arial"/>
              </a:defRPr>
            </a:pPr>
            <a:r>
              <a:t>• Insect field counts present extreme imbalances. Common pests like aphids have thousands of raw images, while rare, highly destructive pests like sawfly have limited records. Standard cross-entropy leads to majority class overfitting.</a:t>
            </a:r>
          </a:p>
          <a:p>
            <a:pPr>
              <a:spcBef>
                <a:spcPts val="800"/>
              </a:spcBef>
              <a:spcAft>
                <a:spcPts val="400"/>
              </a:spcAft>
              <a:defRPr sz="1600" b="1">
                <a:solidFill>
                  <a:srgbClr val="14B8A6"/>
                </a:solidFill>
                <a:latin typeface="Arial"/>
              </a:defRPr>
            </a:pPr>
            <a:r>
              <a:t>Information Maximization via Effective Sample Weighting</a:t>
            </a:r>
          </a:p>
          <a:p>
            <a:pPr>
              <a:defRPr sz="1300">
                <a:solidFill>
                  <a:srgbClr val="E2E8F0"/>
                </a:solidFill>
                <a:latin typeface="Arial"/>
              </a:defRPr>
            </a:pPr>
            <a:r>
              <a:t>• The effective number of samples E_c for target class c is scaled using a hyperparameter beta to account for overlap:</a:t>
            </a:r>
            <a:br/>
            <a:r>
              <a:t>         E_c = (1 - beta^n_c) / (1 - beta)  (beta is the feature space scaling factor)</a:t>
            </a:r>
            <a:br/>
            <a:r>
              <a:t>• The class weight w_c is inversely proportional to its effective volume, computed dynamically inside the dataloader:</a:t>
            </a:r>
            <a:br/>
            <a:r>
              <a:t>         w_c = (1 / E_c) * (sum_{j=1}^{C} 1 / E_j)^(-1)</a:t>
            </a:r>
            <a:br/>
            <a:r>
              <a:t>• Class-Balanced Loss Function (L_CB): Scales cross-entropy during backpropagation:</a:t>
            </a:r>
            <a:br/>
            <a:r>
              <a:t>         L_CB(y, y_hat) = - sum_{c=1}^{C} w_c * y_c * log(y_hat_c)</a:t>
            </a:r>
            <a:br/>
            <a:r>
              <a:t>• Results: Prioritizes minority class updates, preserving fine-grained micro-anatomical separations without expanding the model's footprint.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Dataset Preparation &amp; Augmentation Pipeline</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486400" cy="4572000"/>
          </a:xfrm>
          <a:prstGeom prst="rect">
            <a:avLst/>
          </a:prstGeom>
          <a:noFill/>
        </p:spPr>
        <p:txBody>
          <a:bodyPr wrap="square">
            <a:spAutoFit/>
          </a:bodyPr>
          <a:lstStyle/>
          <a:p>
            <a:pPr>
              <a:spcAft>
                <a:spcPts val="400"/>
              </a:spcAft>
              <a:defRPr sz="1600" b="1">
                <a:solidFill>
                  <a:srgbClr val="14B8A6"/>
                </a:solidFill>
                <a:latin typeface="Arial"/>
              </a:defRPr>
            </a:pPr>
            <a:r>
              <a:t>9 Target Pest Classes</a:t>
            </a:r>
          </a:p>
          <a:p>
            <a:pPr>
              <a:spcAft>
                <a:spcPts val="1400"/>
              </a:spcAft>
              <a:defRPr sz="1300">
                <a:solidFill>
                  <a:srgbClr val="E2E8F0"/>
                </a:solidFill>
                <a:latin typeface="Arial"/>
              </a:defRPr>
            </a:pPr>
            <a:r>
              <a:t>1. Aphids        2. Armyworm      3. Beetle</a:t>
            </a:r>
            <a:br/>
            <a:r>
              <a:t>4. Bollworm      5. Grasshopper   6. Mites</a:t>
            </a:r>
            <a:br/>
            <a:r>
              <a:t>7. Mosquito      8. Sawfly        9. Stem Borer</a:t>
            </a:r>
            <a:br/>
            <a:r>
              <a:t>Presents severe intra-class similarities and dataset skew (e.g. aphids outnumber sawfly).</a:t>
            </a:r>
          </a:p>
          <a:p>
            <a:pPr>
              <a:spcBef>
                <a:spcPts val="800"/>
              </a:spcBef>
              <a:spcAft>
                <a:spcPts val="400"/>
              </a:spcAft>
              <a:defRPr sz="1600" b="1">
                <a:solidFill>
                  <a:srgbClr val="14B8A6"/>
                </a:solidFill>
                <a:latin typeface="Arial"/>
              </a:defRPr>
            </a:pPr>
            <a:r>
              <a:t>Preprocessing &amp; Augmentations</a:t>
            </a:r>
          </a:p>
          <a:p>
            <a:pPr>
              <a:defRPr sz="1300">
                <a:solidFill>
                  <a:srgbClr val="E2E8F0"/>
                </a:solidFill>
                <a:latin typeface="Arial"/>
              </a:defRPr>
            </a:pPr>
            <a:r>
              <a:t>• Images resized to 224 x 224 pixels and normalized using ImageNet parameters (mu, sigma) to stabilize gradients.</a:t>
            </a:r>
            <a:br/>
            <a:r>
              <a:t>• Spatial augmentations prevent overfitting to static trap backgrounds and shifting light conditions:</a:t>
            </a:r>
            <a:br/>
            <a:r>
              <a:t>   - Flips: Random horizontal and vertical flips (p = 0.5).</a:t>
            </a:r>
            <a:br/>
            <a:r>
              <a:t>   - Rotations: Random affine rotations within [-30, +30] degrees.</a:t>
            </a:r>
            <a:br/>
            <a:r>
              <a:t>   - Color Jitter: Brightness, contrast, saturation, and hue (scale 0.2).</a:t>
            </a:r>
            <a:br/>
            <a:r>
              <a:t>   - Perspective Transformations (scale 0.2) to simulate visual distortion.</a:t>
            </a:r>
          </a:p>
        </p:txBody>
      </p:sp>
      <p:pic>
        <p:nvPicPr>
          <p:cNvPr id="7" name="Picture 6" descr="mobilenet_class_distribution.png"/>
          <p:cNvPicPr>
            <a:picLocks noChangeAspect="1"/>
          </p:cNvPicPr>
          <p:nvPr/>
        </p:nvPicPr>
        <p:blipFill>
          <a:blip r:embed="rId2"/>
          <a:stretch>
            <a:fillRect/>
          </a:stretch>
        </p:blipFill>
        <p:spPr>
          <a:xfrm>
            <a:off x="6217920" y="1645920"/>
            <a:ext cx="5486400" cy="457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Lightweight Model Design: MobileNetV3-Large</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972800" cy="4572000"/>
          </a:xfrm>
          <a:prstGeom prst="rect">
            <a:avLst/>
          </a:prstGeom>
          <a:noFill/>
        </p:spPr>
        <p:txBody>
          <a:bodyPr wrap="square">
            <a:spAutoFit/>
          </a:bodyPr>
          <a:lstStyle/>
          <a:p>
            <a:pPr>
              <a:spcAft>
                <a:spcPts val="400"/>
              </a:spcAft>
              <a:defRPr sz="1600" b="1">
                <a:solidFill>
                  <a:srgbClr val="14B8A6"/>
                </a:solidFill>
                <a:latin typeface="Arial"/>
              </a:defRPr>
            </a:pPr>
            <a:r>
              <a:t>Core Structural Building Blocks</a:t>
            </a:r>
          </a:p>
          <a:p>
            <a:pPr>
              <a:spcAft>
                <a:spcPts val="1200"/>
              </a:spcAft>
              <a:defRPr sz="1300">
                <a:solidFill>
                  <a:srgbClr val="E2E8F0"/>
                </a:solidFill>
                <a:latin typeface="Arial"/>
              </a:defRPr>
            </a:pPr>
            <a:r>
              <a:t>• Depthwise Separable Convolutions: Drastically slashes computational complexity and MAC operations.</a:t>
            </a:r>
            <a:br/>
            <a:r>
              <a:t>• Inverted Residual Blocks: Projects low-dimensional inputs into expanded spaces using 1x1 convolutions, processes spatial features within the expanded zone, and projects back to low-dimensional bottlenecks.</a:t>
            </a:r>
            <a:br/>
            <a:r>
              <a:t>• Linear Bottlenecks: Omits non-linear activation functions in the final projection stage of the residual blocks to prevent information loss during high-to-low feature compression.</a:t>
            </a:r>
          </a:p>
          <a:p>
            <a:pPr>
              <a:spcBef>
                <a:spcPts val="800"/>
              </a:spcBef>
              <a:spcAft>
                <a:spcPts val="400"/>
              </a:spcAft>
              <a:defRPr sz="1600" b="1">
                <a:solidFill>
                  <a:srgbClr val="14B8A6"/>
                </a:solidFill>
                <a:latin typeface="Arial"/>
              </a:defRPr>
            </a:pPr>
            <a:r>
              <a:t>Localized Attention &amp; Activation Optimization</a:t>
            </a:r>
          </a:p>
          <a:p>
            <a:pPr>
              <a:defRPr sz="1300">
                <a:solidFill>
                  <a:srgbClr val="E2E8F0"/>
                </a:solidFill>
                <a:latin typeface="Arial"/>
              </a:defRPr>
            </a:pPr>
            <a:r>
              <a:t>• Squeeze-and-Excitation (SE) &amp; Coordinate Attention: Applies global average pooling across spatial grids to calculate per-channel attention weights. These weights scale feature maps to focus on diagnostic details (wings, antennas) while suppressing trap noise.</a:t>
            </a:r>
            <a:br/>
            <a:r>
              <a:t>• Hard-Swish (h-swish) Activation: Bypasses standard swish sigmoid calculation overhead on edge CPUs by approximating it using piece-wise linear ReLU6:</a:t>
            </a:r>
            <a:br/>
            <a:r>
              <a:t>         h-swish(x) = x * ReLU6(x + 3) / 6</a:t>
            </a:r>
            <a:br/>
            <a:r>
              <a:t>• Bypasses exponential steps, enabling edge hardware to execute activations using basic bitwise shifting and additions, preserving power and preventing CPU thermal throttling.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Training Convergence &amp; Optimization Trajectories</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486400" cy="4572000"/>
          </a:xfrm>
          <a:prstGeom prst="rect">
            <a:avLst/>
          </a:prstGeom>
          <a:noFill/>
        </p:spPr>
        <p:txBody>
          <a:bodyPr wrap="square">
            <a:spAutoFit/>
          </a:bodyPr>
          <a:lstStyle/>
          <a:p>
            <a:pPr>
              <a:spcAft>
                <a:spcPts val="400"/>
              </a:spcAft>
              <a:defRPr sz="1600" b="1">
                <a:solidFill>
                  <a:srgbClr val="14B8A6"/>
                </a:solidFill>
                <a:latin typeface="Arial"/>
              </a:defRPr>
            </a:pPr>
            <a:r>
              <a:t>Experimental Training Setup</a:t>
            </a:r>
          </a:p>
          <a:p>
            <a:pPr>
              <a:spcAft>
                <a:spcPts val="1400"/>
              </a:spcAft>
              <a:defRPr sz="1300">
                <a:solidFill>
                  <a:srgbClr val="E2E8F0"/>
                </a:solidFill>
                <a:latin typeface="Arial"/>
              </a:defRPr>
            </a:pPr>
            <a:r>
              <a:t>• Framework: PyTorch with CUDA bindings, utilizing Automated Mixed Precision (AMP) for 16-bit float acceleration.</a:t>
            </a:r>
            <a:br/>
            <a:r>
              <a:t>• Optimizer: AdamW (lr = 1e-3, weight_decay = 1e-4) paired with Cosine Annealing Learning Rate scheduler.</a:t>
            </a:r>
            <a:br/>
            <a:r>
              <a:t>• Early Stopping: Patience of 5 epochs (triggered at epoch 12).</a:t>
            </a:r>
          </a:p>
          <a:p>
            <a:pPr>
              <a:spcBef>
                <a:spcPts val="800"/>
              </a:spcBef>
              <a:spcAft>
                <a:spcPts val="400"/>
              </a:spcAft>
              <a:defRPr sz="1600" b="1">
                <a:solidFill>
                  <a:srgbClr val="14B8A6"/>
                </a:solidFill>
                <a:latin typeface="Arial"/>
              </a:defRPr>
            </a:pPr>
            <a:r>
              <a:t>Convergence Analysis</a:t>
            </a:r>
          </a:p>
          <a:p>
            <a:pPr>
              <a:defRPr sz="1300">
                <a:solidFill>
                  <a:srgbClr val="E2E8F0"/>
                </a:solidFill>
                <a:latin typeface="Arial"/>
              </a:defRPr>
            </a:pPr>
            <a:r>
              <a:t>• Loss Decay: Drops rapidly during the first six epochs, stabilizing below 0.17 at convergence. Validation loss tightly tracks training loss, proving the effectiveness of the spatial augmentations.</a:t>
            </a:r>
            <a:br/>
            <a:r>
              <a:t>• Accuracy Curves: Validation accuracy rises smoothly, peaking at a high validation score of 97.33% at epoch 7. The narrow gap confirms high generalization capacity on unfamiliar visual data.</a:t>
            </a:r>
          </a:p>
        </p:txBody>
      </p:sp>
      <p:pic>
        <p:nvPicPr>
          <p:cNvPr id="7" name="Picture 6" descr="mobilenet_curves.png"/>
          <p:cNvPicPr>
            <a:picLocks noChangeAspect="1"/>
          </p:cNvPicPr>
          <p:nvPr/>
        </p:nvPicPr>
        <p:blipFill>
          <a:blip r:embed="rId2"/>
          <a:stretch>
            <a:fillRect/>
          </a:stretch>
        </p:blipFill>
        <p:spPr>
          <a:xfrm>
            <a:off x="6217920" y="164592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Visual Results: Confusion Matrix &amp; Metrics</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486400" cy="4572000"/>
          </a:xfrm>
          <a:prstGeom prst="rect">
            <a:avLst/>
          </a:prstGeom>
          <a:noFill/>
        </p:spPr>
        <p:txBody>
          <a:bodyPr wrap="square">
            <a:spAutoFit/>
          </a:bodyPr>
          <a:lstStyle/>
          <a:p>
            <a:pPr>
              <a:spcAft>
                <a:spcPts val="400"/>
              </a:spcAft>
              <a:defRPr sz="1600" b="1">
                <a:solidFill>
                  <a:srgbClr val="14B8A6"/>
                </a:solidFill>
                <a:latin typeface="Arial"/>
              </a:defRPr>
            </a:pPr>
            <a:r>
              <a:t>Confusion Matrix Key Insights</a:t>
            </a:r>
          </a:p>
          <a:p>
            <a:pPr>
              <a:spcAft>
                <a:spcPts val="1400"/>
              </a:spcAft>
              <a:defRPr sz="1300">
                <a:solidFill>
                  <a:srgbClr val="E2E8F0"/>
                </a:solidFill>
                <a:latin typeface="Arial"/>
              </a:defRPr>
            </a:pPr>
            <a:r>
              <a:t>• Displays strong diagonal dominance, demonstrating correct positive classifications across the entire validation set.</a:t>
            </a:r>
            <a:br/>
            <a:r>
              <a:t>• The WeightedRandomSampler successfully prevented majority class bias, achieving uniform high accuracy for underrepresented classes.</a:t>
            </a:r>
            <a:br/>
            <a:r>
              <a:t>• Minor off-diagonal scattering is limited to insect categories with severe anatomical overlaps (such as sawfly, bollworm, and mites).</a:t>
            </a:r>
          </a:p>
          <a:p>
            <a:pPr>
              <a:spcBef>
                <a:spcPts val="800"/>
              </a:spcBef>
              <a:spcAft>
                <a:spcPts val="400"/>
              </a:spcAft>
              <a:defRPr sz="1600" b="1">
                <a:solidFill>
                  <a:srgbClr val="14B8A6"/>
                </a:solidFill>
                <a:latin typeface="Arial"/>
              </a:defRPr>
            </a:pPr>
            <a:r>
              <a:t>Quantitative Statistical Reliability</a:t>
            </a:r>
          </a:p>
          <a:p>
            <a:pPr>
              <a:defRPr sz="1300">
                <a:solidFill>
                  <a:srgbClr val="E2E8F0"/>
                </a:solidFill>
                <a:latin typeface="Arial"/>
              </a:defRPr>
            </a:pPr>
            <a:r>
              <a:t>• Overall macro metrics settle around 98.00% precision, 98.00% recall, and 98.00% F1-score.</a:t>
            </a:r>
            <a:br/>
            <a:r>
              <a:t>• Boxplot dispersion limits show extremely narrow ranges and high medians, confirming that model classification is stable across all classes, avoiding false-alarm spikes on any individual class.</a:t>
            </a:r>
          </a:p>
        </p:txBody>
      </p:sp>
      <p:pic>
        <p:nvPicPr>
          <p:cNvPr id="7" name="Picture 6" descr="mobilenet_cm.png"/>
          <p:cNvPicPr>
            <a:picLocks noChangeAspect="1"/>
          </p:cNvPicPr>
          <p:nvPr/>
        </p:nvPicPr>
        <p:blipFill>
          <a:blip r:embed="rId2"/>
          <a:stretch>
            <a:fillRect/>
          </a:stretch>
        </p:blipFill>
        <p:spPr>
          <a:xfrm>
            <a:off x="6217920" y="1645920"/>
            <a:ext cx="5486400" cy="457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Edge Deployment &amp; Resource Consumption Profile</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486400" cy="4572000"/>
          </a:xfrm>
          <a:prstGeom prst="rect">
            <a:avLst/>
          </a:prstGeom>
          <a:noFill/>
        </p:spPr>
        <p:txBody>
          <a:bodyPr wrap="square">
            <a:spAutoFit/>
          </a:bodyPr>
          <a:lstStyle/>
          <a:p>
            <a:pPr>
              <a:spcAft>
                <a:spcPts val="400"/>
              </a:spcAft>
              <a:defRPr sz="1600" b="1">
                <a:solidFill>
                  <a:srgbClr val="14B8A6"/>
                </a:solidFill>
                <a:latin typeface="Arial"/>
              </a:defRPr>
            </a:pPr>
            <a:r>
              <a:t>Empirical Local Profile (Raspberry Pi 4 Target)</a:t>
            </a:r>
          </a:p>
          <a:p>
            <a:pPr>
              <a:spcAft>
                <a:spcPts val="1400"/>
              </a:spcAft>
              <a:defRPr sz="1300">
                <a:solidFill>
                  <a:srgbClr val="E2E8F0"/>
                </a:solidFill>
                <a:latin typeface="Arial"/>
              </a:defRPr>
            </a:pPr>
            <a:r>
              <a:t>• Model Size on Disk: 16.4 Megabytes (fully cacheable).</a:t>
            </a:r>
            <a:br/>
            <a:r>
              <a:t>• Computational Complexity: 0.62 GFLOPs (MAC count).</a:t>
            </a:r>
            <a:br/>
            <a:r>
              <a:t>• Volatile RAM Footprint: 44.2 Megabytes (minimal memory draw).</a:t>
            </a:r>
            <a:br/>
            <a:r>
              <a:t>• Mean Local Inference Latency: 23.5 Milliseconds.</a:t>
            </a:r>
            <a:br/>
            <a:r>
              <a:t>• Sustained Frame Rate: 42.5 Frames Per Second.</a:t>
            </a:r>
            <a:br/>
            <a:r>
              <a:t>• System CPU Utilization Factor: 38.4% (prevents thermal throttling).</a:t>
            </a:r>
          </a:p>
          <a:p>
            <a:pPr>
              <a:spcBef>
                <a:spcPts val="800"/>
              </a:spcBef>
              <a:spcAft>
                <a:spcPts val="400"/>
              </a:spcAft>
              <a:defRPr sz="1600" b="1">
                <a:solidFill>
                  <a:srgbClr val="14B8A6"/>
                </a:solidFill>
                <a:latin typeface="Arial"/>
              </a:defRPr>
            </a:pPr>
            <a:r>
              <a:t>Temporal Latency Predictability</a:t>
            </a:r>
          </a:p>
          <a:p>
            <a:pPr>
              <a:defRPr sz="1300">
                <a:solidFill>
                  <a:srgbClr val="E2E8F0"/>
                </a:solidFill>
                <a:latin typeface="Arial"/>
              </a:defRPr>
            </a:pPr>
            <a:r>
              <a:t>• The execution latency histogram shows a narrow distribution centered around 23.5 ms. The absence of outliers confirms stable, predictable execution speeds on constrained hardware, avoiding network jitter.</a:t>
            </a:r>
          </a:p>
        </p:txBody>
      </p:sp>
      <p:pic>
        <p:nvPicPr>
          <p:cNvPr id="7" name="Picture 6" descr="mobilenet_latency_profile.png"/>
          <p:cNvPicPr>
            <a:picLocks noChangeAspect="1"/>
          </p:cNvPicPr>
          <p:nvPr/>
        </p:nvPicPr>
        <p:blipFill>
          <a:blip r:embed="rId2"/>
          <a:stretch>
            <a:fillRect/>
          </a:stretch>
        </p:blipFill>
        <p:spPr>
          <a:xfrm>
            <a:off x="6217920" y="1645920"/>
            <a:ext cx="5486400" cy="457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Comparative Benchmarking of Architectures</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5486400" cy="4572000"/>
          </a:xfrm>
          <a:prstGeom prst="rect">
            <a:avLst/>
          </a:prstGeom>
          <a:noFill/>
        </p:spPr>
        <p:txBody>
          <a:bodyPr wrap="square">
            <a:spAutoFit/>
          </a:bodyPr>
          <a:lstStyle/>
          <a:p>
            <a:pPr>
              <a:spcAft>
                <a:spcPts val="400"/>
              </a:spcAft>
              <a:defRPr sz="1600" b="1">
                <a:solidFill>
                  <a:srgbClr val="14B8A6"/>
                </a:solidFill>
                <a:latin typeface="Arial"/>
              </a:defRPr>
            </a:pPr>
            <a:r>
              <a:t>Model Comparison Benchmarks</a:t>
            </a:r>
          </a:p>
          <a:p>
            <a:pPr>
              <a:spcAft>
                <a:spcPts val="1400"/>
              </a:spcAft>
              <a:defRPr sz="1300">
                <a:solidFill>
                  <a:srgbClr val="E2E8F0"/>
                </a:solidFill>
                <a:latin typeface="Arial"/>
              </a:defRPr>
            </a:pPr>
            <a:r>
              <a:t>• MobileNetV3-L (Ours): 95.78% Val Acc, 5.73 ms Latency, 16.07 MB Size, 1249.68 MB Peak Memory.</a:t>
            </a:r>
            <a:br/>
            <a:r>
              <a:t>• EfficientNet-B0: 97.11% Val Acc, 7.42 ms Latency, 15.33 MB Size, 2358.05 MB Peak Memory.</a:t>
            </a:r>
            <a:br/>
            <a:r>
              <a:t>• ResNet18: 95.56% Val Acc, 2.06 ms Latency, 42.65 MB Size, 2358.05 MB Peak Memory.</a:t>
            </a:r>
            <a:br/>
            <a:r>
              <a:t>• EfficientNetV2-S: 97.33% Val Acc, 16.40 ms Latency, 77.01 MB Size, 3593.29 MB Peak Memory.</a:t>
            </a:r>
          </a:p>
          <a:p>
            <a:pPr>
              <a:spcBef>
                <a:spcPts val="800"/>
              </a:spcBef>
              <a:spcAft>
                <a:spcPts val="400"/>
              </a:spcAft>
              <a:defRPr sz="1600" b="1">
                <a:solidFill>
                  <a:srgbClr val="F59E0B"/>
                </a:solidFill>
                <a:latin typeface="Arial"/>
              </a:defRPr>
            </a:pPr>
            <a:r>
              <a:t>Why MobileNetV3-Large Represents the Optimal Choice</a:t>
            </a:r>
          </a:p>
          <a:p>
            <a:pPr>
              <a:defRPr sz="1300">
                <a:solidFill>
                  <a:srgbClr val="E2E8F0"/>
                </a:solidFill>
                <a:latin typeface="Arial"/>
              </a:defRPr>
            </a:pPr>
            <a:r>
              <a:t>• Peak Memory: MobileNetV3-L uses only 1.25 GB peak memory (half of ResNet18/EfficientNet-B0, one-third of EfficientNetV2-S), preventing system lockups on 4GB RAM boards.</a:t>
            </a:r>
            <a:br/>
            <a:r>
              <a:t>• Size &amp; Speed: It delivers a tiny 16 MB footprint (easy edge updates) and highly responsive 5.73 ms execution, matching/exceeding larger models at a fraction of the cost.</a:t>
            </a:r>
          </a:p>
        </p:txBody>
      </p:sp>
      <p:pic>
        <p:nvPicPr>
          <p:cNvPr id="7" name="Picture 6" descr="pest_predictions_grid.png"/>
          <p:cNvPicPr>
            <a:picLocks noChangeAspect="1"/>
          </p:cNvPicPr>
          <p:nvPr/>
        </p:nvPicPr>
        <p:blipFill>
          <a:blip r:embed="rId2"/>
          <a:stretch>
            <a:fillRect/>
          </a:stretch>
        </p:blipFill>
        <p:spPr>
          <a:xfrm>
            <a:off x="6217920" y="1645920"/>
            <a:ext cx="5486400" cy="4572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7315200" cy="365760"/>
          </a:xfrm>
          <a:prstGeom prst="rect">
            <a:avLst/>
          </a:prstGeom>
          <a:noFill/>
        </p:spPr>
        <p:txBody>
          <a:bodyPr wrap="square">
            <a:spAutoFit/>
          </a:bodyPr>
          <a:lstStyle/>
          <a:p>
            <a:pPr>
              <a:defRPr sz="1100" b="1">
                <a:solidFill>
                  <a:srgbClr val="14B8A6"/>
                </a:solidFill>
                <a:latin typeface="Arial"/>
              </a:defRPr>
            </a:pPr>
            <a:r>
              <a:t>M.SC. MAJOR PROJECT</a:t>
            </a:r>
          </a:p>
        </p:txBody>
      </p:sp>
      <p:sp>
        <p:nvSpPr>
          <p:cNvPr id="4" name="TextBox 3"/>
          <p:cNvSpPr txBox="1"/>
          <p:nvPr/>
        </p:nvSpPr>
        <p:spPr>
          <a:xfrm>
            <a:off x="548640" y="548640"/>
            <a:ext cx="10972800" cy="731520"/>
          </a:xfrm>
          <a:prstGeom prst="rect">
            <a:avLst/>
          </a:prstGeom>
          <a:noFill/>
        </p:spPr>
        <p:txBody>
          <a:bodyPr wrap="square">
            <a:spAutoFit/>
          </a:bodyPr>
          <a:lstStyle/>
          <a:p>
            <a:pPr>
              <a:defRPr sz="2800" b="1">
                <a:solidFill>
                  <a:srgbClr val="FFFFFF"/>
                </a:solidFill>
                <a:latin typeface="Arial"/>
              </a:defRPr>
            </a:pPr>
            <a:r>
              <a:t>Conclusion &amp; Future Work</a:t>
            </a:r>
          </a:p>
        </p:txBody>
      </p:sp>
      <p:sp>
        <p:nvSpPr>
          <p:cNvPr id="5" name="Rectangle 4"/>
          <p:cNvSpPr/>
          <p:nvPr/>
        </p:nvSpPr>
        <p:spPr>
          <a:xfrm>
            <a:off x="548640" y="1280160"/>
            <a:ext cx="10972800" cy="18288"/>
          </a:xfrm>
          <a:prstGeom prst="rect">
            <a:avLst/>
          </a:prstGeom>
          <a:solidFill>
            <a:srgbClr val="334155"/>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45920"/>
            <a:ext cx="10972800" cy="4572000"/>
          </a:xfrm>
          <a:prstGeom prst="rect">
            <a:avLst/>
          </a:prstGeom>
          <a:noFill/>
        </p:spPr>
        <p:txBody>
          <a:bodyPr wrap="square">
            <a:spAutoFit/>
          </a:bodyPr>
          <a:lstStyle/>
          <a:p>
            <a:pPr>
              <a:spcAft>
                <a:spcPts val="400"/>
              </a:spcAft>
              <a:defRPr sz="1600" b="1">
                <a:solidFill>
                  <a:srgbClr val="14B8A6"/>
                </a:solidFill>
                <a:latin typeface="Arial"/>
              </a:defRPr>
            </a:pPr>
            <a:r>
              <a:t>Key Contributions &amp; System Success</a:t>
            </a:r>
          </a:p>
          <a:p>
            <a:pPr>
              <a:spcAft>
                <a:spcPts val="1400"/>
              </a:spcAft>
              <a:defRPr sz="1300">
                <a:solidFill>
                  <a:srgbClr val="E2E8F0"/>
                </a:solidFill>
                <a:latin typeface="Arial"/>
              </a:defRPr>
            </a:pPr>
            <a:r>
              <a:t>• Decoupled network layout (Mist-Fog-Cloud) resolves the 'Bandwidth Wall' and keeps local diagnostics functional during external blackouts.</a:t>
            </a:r>
            <a:br/>
            <a:r>
              <a:t>• Class-balanced training (97.33% accuracy) successfully handles raw dataset skews, avoiding majority class bias.</a:t>
            </a:r>
            <a:br/>
            <a:r>
              <a:t>• Local edge profiling (23.5 ms latency, 16.4 MB size, 44.2 MB RAM draw) demonstrates the hardware feasibility of physical deployment.</a:t>
            </a:r>
          </a:p>
          <a:p>
            <a:pPr>
              <a:spcBef>
                <a:spcPts val="800"/>
              </a:spcBef>
              <a:spcAft>
                <a:spcPts val="400"/>
              </a:spcAft>
              <a:defRPr sz="1600" b="1">
                <a:solidFill>
                  <a:srgbClr val="F59E0B"/>
                </a:solidFill>
                <a:latin typeface="Arial"/>
              </a:defRPr>
            </a:pPr>
            <a:r>
              <a:t>Future Developmental Milestones</a:t>
            </a:r>
          </a:p>
          <a:p>
            <a:pPr>
              <a:defRPr sz="1300">
                <a:solidFill>
                  <a:srgbClr val="E2E8F0"/>
                </a:solidFill>
                <a:latin typeface="Arial"/>
              </a:defRPr>
            </a:pPr>
            <a:r>
              <a:t>• Federated Learning: Ensembles localized edge models to update master model weights without exposing private raw field images to external servers.</a:t>
            </a:r>
            <a:br/>
            <a:r>
              <a:t>• Multi-modal Sensor Fusion: Integrates visual cameras with real-time soil, humidity, and climate telemetry to construct proactive predictive risk maps.</a:t>
            </a:r>
            <a:br/>
            <a:r>
              <a:t>• Actuation &amp; Robotics: Integrates the edge inference core onto autonomous mobile inspection UAVs and automated trap sprays for real-time containment.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4B8A6"/>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10972800" cy="2743200"/>
          </a:xfrm>
          <a:prstGeom prst="rect">
            <a:avLst/>
          </a:prstGeom>
          <a:noFill/>
        </p:spPr>
        <p:txBody>
          <a:bodyPr wrap="square">
            <a:spAutoFit/>
          </a:bodyPr>
          <a:lstStyle/>
          <a:p>
            <a:pPr algn="ctr">
              <a:defRPr sz="6400" b="1">
                <a:solidFill>
                  <a:srgbClr val="14B8A6"/>
                </a:solidFill>
                <a:latin typeface="Arial"/>
              </a:defRPr>
            </a:pPr>
            <a:r>
              <a:t>THANK YOU!</a:t>
            </a:r>
          </a:p>
          <a:p>
            <a:pPr algn="ctr">
              <a:spcBef>
                <a:spcPts val="1200"/>
              </a:spcBef>
              <a:defRPr sz="2800" b="1">
                <a:solidFill>
                  <a:srgbClr val="FFFFFF"/>
                </a:solidFill>
                <a:latin typeface="Arial"/>
              </a:defRPr>
            </a:pPr>
            <a:r>
              <a:t>Questions &amp; Discussion</a:t>
            </a:r>
          </a:p>
        </p:txBody>
      </p:sp>
      <p:sp>
        <p:nvSpPr>
          <p:cNvPr id="4" name="TextBox 3"/>
          <p:cNvSpPr txBox="1"/>
          <p:nvPr/>
        </p:nvSpPr>
        <p:spPr>
          <a:xfrm>
            <a:off x="548640" y="4754880"/>
            <a:ext cx="10972800" cy="1371600"/>
          </a:xfrm>
          <a:prstGeom prst="rect">
            <a:avLst/>
          </a:prstGeom>
          <a:noFill/>
        </p:spPr>
        <p:txBody>
          <a:bodyPr wrap="square">
            <a:spAutoFit/>
          </a:bodyPr>
          <a:lstStyle/>
          <a:p>
            <a:pPr algn="ctr">
              <a:defRPr sz="1400">
                <a:solidFill>
                  <a:srgbClr val="E2E8F0"/>
                </a:solidFill>
                <a:latin typeface="Arial"/>
              </a:defRPr>
            </a:pPr>
            <a:r>
              <a:t>Candidate: Sujeet Kumar (Roll No. 24234747005)</a:t>
            </a:r>
          </a:p>
          <a:p>
            <a:pPr algn="ctr">
              <a:spcBef>
                <a:spcPts val="600"/>
              </a:spcBef>
              <a:defRPr sz="1400">
                <a:solidFill>
                  <a:srgbClr val="14B8A6"/>
                </a:solidFill>
                <a:latin typeface="Arial"/>
              </a:defRPr>
            </a:pPr>
            <a:r>
              <a:t>Supervisor: Dr. Dilip Senapati</a:t>
            </a:r>
          </a:p>
          <a:p>
            <a:pPr algn="ctr">
              <a:spcBef>
                <a:spcPts val="600"/>
              </a:spcBef>
              <a:defRPr sz="1200">
                <a:solidFill>
                  <a:srgbClr val="94A3B8"/>
                </a:solidFill>
                <a:latin typeface="Arial"/>
              </a:defRPr>
            </a:pPr>
            <a:r>
              <a:t>Department of Computer Science, University of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