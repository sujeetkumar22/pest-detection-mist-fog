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52B788"/>
            </a:solidFill>
            <a:ln w="50800" cap="flat">
              <a:solidFill>
                <a:srgbClr val="52B7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12"/>
            <c:spPr>
              <a:solidFill>
                <a:srgbClr val="52B788"/>
              </a:solidFill>
              <a:ln w="9525" cap="flat">
                <a:solidFill>
                  <a:srgbClr val="1B43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61</c:v>
                </c:pt>
                <c:pt idx="1">
                  <c:v>61.2</c:v>
                </c:pt>
                <c:pt idx="2">
                  <c:v>62.4</c:v>
                </c:pt>
                <c:pt idx="3">
                  <c:v>68.6</c:v>
                </c:pt>
                <c:pt idx="4">
                  <c:v>70.4</c:v>
                </c:pt>
                <c:pt idx="5">
                  <c:v>72.1</c:v>
                </c:pt>
                <c:pt idx="6">
                  <c:v>73.6</c:v>
                </c:pt>
                <c:pt idx="7">
                  <c:v>74.2</c:v>
                </c:pt>
                <c:pt idx="8">
                  <c:v>74.7</c:v>
                </c:pt>
                <c:pt idx="9">
                  <c:v>75.3</c:v>
                </c:pt>
                <c:pt idx="10">
                  <c:v>76.2</c:v>
                </c:pt>
                <c:pt idx="11">
                  <c:v>76.4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433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B4332"/>
                    </a:solidFill>
                    <a:latin typeface="Arial"/>
                  </a:rPr>
                  <a:t>Epoch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F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5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1B4332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1B4332"/>
                    </a:solidFill>
                    <a:latin typeface="Arial"/>
                  </a:rPr>
                  <a:t>Validation Accuracy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F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Latency (ms)</c:v>
                </c:pt>
              </c:strCache>
            </c:strRef>
          </c:tx>
          <c:spPr>
            <a:solidFill>
              <a:srgbClr val="52B7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1B433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Mist (Pi 4 quantized)</c:v>
                  </c:pt>
                  <c:pt idx="1">
                    <c:v>Fog (GPU server)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120</c:v>
                </c:pt>
                <c:pt idx="1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1B433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4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F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2743200"/>
            <a:ext cx="5486400" cy="54864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4114800"/>
            <a:ext cx="5486400" cy="5486400"/>
          </a:xfrm>
          <a:prstGeom prst="ellipse">
            <a:avLst/>
          </a:prstGeom>
          <a:solidFill>
            <a:srgbClr val="95D5B2">
              <a:alpha val="15000"/>
            </a:srgbClr>
          </a:solidFill>
          <a:ln w="12700">
            <a:solidFill>
              <a:srgbClr val="95D5B2">
                <a:alpha val="15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45920" y="5486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645920" y="868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University of Delhi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371600" cy="5486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20116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Mist-Fog-Assisted Real-Time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548640" y="26060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Pest Detection &amp; Classification Framework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548640" y="32461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Using Deep Transfer Learning for Smart Agriculture 4.0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2062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777240" y="4572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Sujeet Kumar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Roll No: 44
</a:t>
            </a:r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Computer Science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6309360" y="4206240"/>
            <a:ext cx="530352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537960" y="4572000"/>
            <a:ext cx="4846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Dilip Senapati
</a:t>
            </a:r>
            <a:pPr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
</a:t>
            </a:r>
            <a:pPr indent="0" marL="0">
              <a:buNone/>
            </a:pPr>
            <a:r>
              <a:rPr lang="en-US" sz="12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Delhi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Date: 24 April 2024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5087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55448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Pests cost ~30% of global crop yield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15087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2376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CNNs, ViTs, edge computing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94360" y="24688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55448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Proposed Framework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Mist–Fog–Cloud hierarchy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63640" y="246888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3640" y="24688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223760" y="2514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DINOv2 Pipeline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223760" y="28803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ViT-Small/14 + custom head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" y="34290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429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55448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M/M/1/K Queuing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55448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task offloading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342900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3429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2376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76.25% accuracy, 15ms latency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94360" y="438912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4389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55448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Future Work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554480" y="4800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Blockchain, DRL, multi-modal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&amp; Motivation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029200" cy="4754880"/>
          </a:xfrm>
          <a:prstGeom prst="roundRect">
            <a:avLst>
              <a:gd name="adj" fmla="val 2885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03120"/>
            <a:ext cx="502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 global crop yield is lost annually to pests &amp; pathogens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86000" y="4663440"/>
            <a:ext cx="1371600" cy="365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846320"/>
            <a:ext cx="4480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Agriculture 4.0 demands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automated, real-time, on-field intelligence.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60720" y="155448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0" y="1805940"/>
            <a:ext cx="548640" cy="5486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0" y="18059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!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75120" y="1691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Inspection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675120" y="2057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Subjective, slow, labor-intensive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274320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0" y="2994660"/>
            <a:ext cx="548640" cy="5486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9946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~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75120" y="2880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Cloud Latency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3246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wall in rural networks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393192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0" y="4183380"/>
            <a:ext cx="548640" cy="5486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41833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#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40690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 Pest Classes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675120" y="4434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Fine-grained visual similarity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60720" y="5120640"/>
            <a:ext cx="60350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0" y="5372100"/>
            <a:ext cx="548640" cy="548640"/>
          </a:xfrm>
          <a:prstGeom prst="ellipse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0" y="53721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4332"/>
                </a:solidFill>
              </a:rPr>
              <a:t>+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675120" y="52578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 Constraints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675120" y="5623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compute on Raspberry Pi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25880" y="1783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Learning in Pest Detection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era (ResNet, MobileNet)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but weak on fine-grained insect features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 Transformers (ViTs)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global context — ideal for small pests in noisy backgrounds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DINOv2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Generalizes across domains without exhaustive fine-tuning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554480"/>
            <a:ext cx="5577840" cy="475488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783080"/>
            <a:ext cx="502920" cy="502920"/>
          </a:xfrm>
          <a:prstGeom prst="ellipse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086600" y="17830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Edge, Mist &amp; Fog Computing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Layer (extreme edge)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Microcontrollers, sensors — reflexive local actions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Layer (intermediary)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compute, physically near the farm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Layer (strategic)
</a:t>
            </a:r>
            <a:pPr indent="0" marL="0">
              <a:spcAft>
                <a:spcPts val="400"/>
              </a:spcAft>
              <a:buNone/>
            </a:pPr>
            <a:r>
              <a:rPr lang="en-US" sz="13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analytics &amp; retraining
</a:t>
            </a:r>
            <a:pPr indent="0" marL="0">
              <a:spcAft>
                <a:spcPts val="400"/>
              </a:spcAft>
              <a:buNone/>
            </a:pPr>
            <a:r>
              <a:rPr lang="en-US" sz="1300" b="1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Mist–Fog hierarchies cut response time by 40%+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03 · METHODOLOGY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Hierarchical Mist–Fog–Cloud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Extreme Edge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Raspberry Pi 4 + Pi-Cam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0" y="1828800"/>
            <a:ext cx="0" cy="822960"/>
          </a:xfrm>
          <a:prstGeom prst="line">
            <a:avLst/>
          </a:prstGeom>
          <a:noFill/>
          <a:ln w="12700">
            <a:solidFill>
              <a:srgbClr val="1B4332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23360" y="178308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acquisition · Noise reduction · M/M/1/K buffer · Quantized TFLite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LAYER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Localized Processing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AGX / GPU Workstation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840480" y="3383280"/>
            <a:ext cx="0" cy="82296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333756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Full-precision DINOv2-ViT · High-confidence classification · Actuator feedback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46634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800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LAYER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Analytics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22960" y="5577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Cloud Servers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0" y="4937760"/>
            <a:ext cx="0" cy="82296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23360" y="4892040"/>
            <a:ext cx="74066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persistence · Pest migration mapping · Periodic retraining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52160" y="2926080"/>
            <a:ext cx="457200" cy="182880"/>
          </a:xfrm>
          <a:prstGeom prst="down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52160" y="4480560"/>
            <a:ext cx="457200" cy="182880"/>
          </a:xfrm>
          <a:prstGeom prst="down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DINOv2 Feature Extraction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91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2194560"/>
            <a:ext cx="1325880" cy="0"/>
          </a:xfrm>
          <a:prstGeom prst="line">
            <a:avLst/>
          </a:prstGeom>
          <a:noFill/>
          <a:ln w="12700">
            <a:solidFill>
              <a:srgbClr val="1B4332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2860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224×224 image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14×14 patches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78608" y="2423160"/>
            <a:ext cx="146304" cy="182880"/>
          </a:xfrm>
          <a:prstGeom prst="rightArrow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155448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34640" y="1691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DINOv2 Backbone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3108960" y="2194560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2860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ViT-Small/14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 attention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18888" y="2423160"/>
            <a:ext cx="146304" cy="182880"/>
          </a:xfrm>
          <a:prstGeom prst="rightArrow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83480" y="155448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1691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349240" y="2194560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2860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384-dim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59168" y="2423160"/>
            <a:ext cx="146304" cy="182880"/>
          </a:xfrm>
          <a:prstGeom prst="rightArrow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55448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691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 Head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7589520" y="2194560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0" y="22860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(0.4)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384 → 132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99448" y="2423160"/>
            <a:ext cx="146304" cy="182880"/>
          </a:xfrm>
          <a:prstGeom prst="rightArrow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464040" y="1554480"/>
            <a:ext cx="2057400" cy="1920240"/>
          </a:xfrm>
          <a:prstGeom prst="roundRect">
            <a:avLst>
              <a:gd name="adj" fmla="val 476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1691640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829800" y="2194560"/>
            <a:ext cx="1325880" cy="0"/>
          </a:xfrm>
          <a:prstGeom prst="line">
            <a:avLst/>
          </a:prstGeom>
          <a:noFill/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555480" y="2286000"/>
            <a:ext cx="1874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 pest classes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(Pestopia)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02920" y="3749040"/>
            <a:ext cx="56235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1 · Warmup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31520" y="42976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Backbone frozen for 3 epochs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AdamW optimizer, LR = 1e-3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Trains classification head only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Calibrates linear layers to 132 classes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63640" y="3749040"/>
            <a:ext cx="5532120" cy="2651760"/>
          </a:xfrm>
          <a:prstGeom prst="roundRect">
            <a:avLst>
              <a:gd name="adj" fmla="val 344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Stage 2 · Fine-Tuning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492240" y="4297680"/>
            <a:ext cx="521208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Entire model unfrozen for 15 epochs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Cosine Annealing LR (start 1e-5)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 Smoothing (0.1) on Cross-Entropy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RandAugment (n=2, m=9) for robustness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M/M/1/K Queuing &amp; MMPP Offloading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Task Offloading Logic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21792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Process — MMPP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Markov Modulated Poisson Process models bursty pest arrivals; rate λ varies with environment (time, temperature).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Model — M/M/1/K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Single-server, finite capacity K. When buffer is full (n = K), new frames are offloaded to Fog or dropped.
</a:t>
            </a:r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probability minimizes a multi-objective cost balancing energy and processing delay.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03720" y="1554480"/>
            <a:ext cx="4892040" cy="2194560"/>
          </a:xfrm>
          <a:prstGeom prst="roundRect">
            <a:avLst>
              <a:gd name="adj" fmla="val 416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040880" y="16916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OFFLOADING PROBABILITY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40880" y="21031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p_offload = max{0,  λ / (μ + λ(K−1))}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40880" y="2834640"/>
            <a:ext cx="45720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</a:t>
            </a:r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arrival rate    </a:t>
            </a:r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μ </a:t>
            </a:r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rate    </a:t>
            </a:r>
            <a:pPr algn="ctr" indent="0" marL="0">
              <a:buNone/>
            </a:pPr>
            <a:r>
              <a:rPr lang="en-US" sz="12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</a:t>
            </a:r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03720" y="3931920"/>
            <a:ext cx="2194560" cy="2468880"/>
          </a:xfrm>
          <a:prstGeom prst="roundRect">
            <a:avLst>
              <a:gd name="adj" fmla="val 4167"/>
            </a:avLst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0372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Raspberry Pi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86600" y="4846320"/>
            <a:ext cx="36576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543800" y="4846320"/>
            <a:ext cx="36576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01000" y="4846320"/>
            <a:ext cx="365760" cy="365760"/>
          </a:xfrm>
          <a:prstGeom prst="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4846320"/>
            <a:ext cx="3657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03720" y="53035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(K)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0372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offloaded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89720" y="4937760"/>
            <a:ext cx="365760" cy="457200"/>
          </a:xfrm>
          <a:prstGeom prst="rightArrow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0" y="3931920"/>
            <a:ext cx="2194560" cy="2468880"/>
          </a:xfrm>
          <a:prstGeom prst="roundRect">
            <a:avLst>
              <a:gd name="adj" fmla="val 4167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0" y="4023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0" y="42976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GPU Server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601200" y="47548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ms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601200" y="53492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0" y="58521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faster than Mist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 · RESULTS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459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56,685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1600200" y="2468880"/>
            <a:ext cx="502920" cy="365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Pestopia images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2424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92424" y="16459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132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489704" y="2468880"/>
            <a:ext cx="502920" cy="365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 species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81928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81928" y="16459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80/20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7379208" y="2468880"/>
            <a:ext cx="502920" cy="365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81928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 split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71432" y="155448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71432" y="1645920"/>
            <a:ext cx="2697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PyTorch</a:t>
            </a:r>
            <a:endParaRPr lang="en-US" sz="3600" dirty="0"/>
          </a:p>
        </p:txBody>
      </p:sp>
      <p:sp>
        <p:nvSpPr>
          <p:cNvPr id="20" name="Shape 18"/>
          <p:cNvSpPr/>
          <p:nvPr/>
        </p:nvSpPr>
        <p:spPr>
          <a:xfrm>
            <a:off x="10268712" y="2468880"/>
            <a:ext cx="502920" cy="365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71432" y="260604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+ Tesla T4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38328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Configuration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384048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5778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dinov2_vits14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High-fidelity feature extraction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Dim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384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Compressed global representation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224 × 224 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Standardized ViT patches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Head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+ Dropout (0.4)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Maps features → 132 pest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3E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Pre-training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(DINOv2)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4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visual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91440" marB="91440" anchor="ctr">
                    <a:lnL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5D5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5" name="Text 22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· Baseline vs. Proposed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Top-1 Accuracy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34340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+13.7%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63.4%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3246120" y="2240280"/>
            <a:ext cx="0" cy="1280160"/>
          </a:xfrm>
          <a:prstGeom prst="line">
            <a:avLst/>
          </a:prstGeom>
          <a:noFill/>
          <a:ln w="12700">
            <a:solidFill>
              <a:srgbClr val="95D5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DINOv2-S (Ours)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72.1%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6263640" y="155448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3796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Macro F1-Score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10412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+16.4%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53796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0.61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9006840" y="2240280"/>
            <a:ext cx="0" cy="1280160"/>
          </a:xfrm>
          <a:prstGeom prst="line">
            <a:avLst/>
          </a:prstGeom>
          <a:noFill/>
          <a:ln w="12700">
            <a:solidFill>
              <a:srgbClr val="95D5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DINOv2-S (Ours)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189720" y="24688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0.71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502920" y="3886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Latency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343400" y="4023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−68.1%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724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23.75 ms</a:t>
            </a:r>
            <a:endParaRPr lang="en-US" sz="2600" dirty="0"/>
          </a:p>
        </p:txBody>
      </p:sp>
      <p:sp>
        <p:nvSpPr>
          <p:cNvPr id="27" name="Shape 25"/>
          <p:cNvSpPr/>
          <p:nvPr/>
        </p:nvSpPr>
        <p:spPr>
          <a:xfrm>
            <a:off x="3246120" y="4572000"/>
            <a:ext cx="0" cy="1280160"/>
          </a:xfrm>
          <a:prstGeom prst="line">
            <a:avLst/>
          </a:prstGeom>
          <a:noFill/>
          <a:ln w="12700">
            <a:solidFill>
              <a:srgbClr val="95D5B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2900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DINOv2-S (Ours)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2900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7.58 ms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3429000" y="54864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(quantized)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63640" y="3886200"/>
            <a:ext cx="54864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4023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Size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0104120" y="40233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−67.2%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53796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3796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A6F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37.3 MB</a:t>
            </a:r>
            <a:endParaRPr lang="en-US" sz="2600" dirty="0"/>
          </a:p>
        </p:txBody>
      </p:sp>
      <p:sp>
        <p:nvSpPr>
          <p:cNvPr id="36" name="Shape 34"/>
          <p:cNvSpPr/>
          <p:nvPr/>
        </p:nvSpPr>
        <p:spPr>
          <a:xfrm>
            <a:off x="9006840" y="4572000"/>
            <a:ext cx="0" cy="1280160"/>
          </a:xfrm>
          <a:prstGeom prst="line">
            <a:avLst/>
          </a:prstGeom>
          <a:noFill/>
          <a:ln w="12700">
            <a:solidFill>
              <a:srgbClr val="95D5B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89720" y="45262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DINOv2-S (Ours)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189720" y="48006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12.23 MB</a:t>
            </a:r>
            <a:endParaRPr lang="en-US" sz="2600" dirty="0"/>
          </a:p>
        </p:txBody>
      </p:sp>
      <p:sp>
        <p:nvSpPr>
          <p:cNvPr id="39" name="Shape 37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40" name="Text 38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Convergence · Validation Accuracy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502920" y="1554480"/>
          <a:ext cx="7772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503920" y="1554480"/>
            <a:ext cx="3291840" cy="4754880"/>
          </a:xfrm>
          <a:prstGeom prst="roundRect">
            <a:avLst>
              <a:gd name="adj" fmla="val 2778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8686800" y="20574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76.25%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8686800" y="28803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validation accuracy at epoch 8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0" y="3474720"/>
            <a:ext cx="1097280" cy="36576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0" y="365760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(E1–3):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warmup as head calibrates
</a:t>
            </a:r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(E4+):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climb after backbone unfreezes
</a:t>
            </a:r>
            <a:pPr indent="0" marL="0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Loss: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Decreased to 1.628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4" name="Text 11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System Performance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Inference Latency per Frame</a:t>
            </a:r>
            <a:endParaRPr lang="en-US" sz="16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1965960"/>
          <a:ext cx="6400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55448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98080" y="16916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 FPS</a:t>
            </a:r>
            <a:endParaRPr lang="en-US" sz="3800" dirty="0"/>
          </a:p>
        </p:txBody>
      </p:sp>
      <p:sp>
        <p:nvSpPr>
          <p:cNvPr id="10" name="Shape 7"/>
          <p:cNvSpPr/>
          <p:nvPr/>
        </p:nvSpPr>
        <p:spPr>
          <a:xfrm>
            <a:off x="9326880" y="1828800"/>
            <a:ext cx="0" cy="86868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0" y="18288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monitoring rate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15200" y="315468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98080" y="32918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32%</a:t>
            </a:r>
            <a:endParaRPr lang="en-US" sz="3800" dirty="0"/>
          </a:p>
        </p:txBody>
      </p:sp>
      <p:sp>
        <p:nvSpPr>
          <p:cNvPr id="14" name="Shape 11"/>
          <p:cNvSpPr/>
          <p:nvPr/>
        </p:nvSpPr>
        <p:spPr>
          <a:xfrm>
            <a:off x="9326880" y="3429000"/>
            <a:ext cx="0" cy="86868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509760" y="34290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 offloaded to Fog at peak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315200" y="4754880"/>
            <a:ext cx="4480560" cy="1417320"/>
          </a:xfrm>
          <a:prstGeom prst="roundRect">
            <a:avLst>
              <a:gd name="adj" fmla="val 6452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98080" y="489204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8×</a:t>
            </a:r>
            <a:endParaRPr lang="en-US" sz="3800" dirty="0"/>
          </a:p>
        </p:txBody>
      </p:sp>
      <p:sp>
        <p:nvSpPr>
          <p:cNvPr id="18" name="Shape 15"/>
          <p:cNvSpPr/>
          <p:nvPr/>
        </p:nvSpPr>
        <p:spPr>
          <a:xfrm>
            <a:off x="9326880" y="5029200"/>
            <a:ext cx="0" cy="86868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509760" y="5029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Speed-up: Fog vs. Mist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02920" y="4572000"/>
            <a:ext cx="64008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31520" y="470916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Architectural Win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731520" y="5074920"/>
            <a:ext cx="5943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M/M/1/K queue prevents Mist buffer overflow during bursty pest arrivals (MMPP). Fog processes only high-entropy frames, eliminating the bandwidth wall and latency jitter of cloud-only systems.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" name="Text 21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11247120" cy="1554480"/>
          </a:xfrm>
          <a:prstGeom prst="roundRect">
            <a:avLst>
              <a:gd name="adj" fmla="val 5882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3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9A44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371600" y="169164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decentralized Mist–Fog–Cloud framework, powered by DINOv2 and governed by M/M/1/K queuing, delivers high-accuracy real-time pest classification at the bandwidth-constrained agricultural edge.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32918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20240" y="3474720"/>
            <a:ext cx="777240" cy="7772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20240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✓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85800" y="4389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76.25%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85800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920240" y="5440680"/>
            <a:ext cx="77724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5532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DINOv2-ViT on 132 Pestopia classes — outperforms MobileNetV2 baseline by +13.7%.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279392" y="32918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96712" y="3474720"/>
            <a:ext cx="777240" cy="7772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96712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✓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62272" y="4389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ms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462272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 Inference Latency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696712" y="5440680"/>
            <a:ext cx="77724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53712" y="5532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8× faster than Mist; sustains stable 10 FPS surveillance with 32% smart offload.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55864" y="3291840"/>
            <a:ext cx="36118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73184" y="3474720"/>
            <a:ext cx="777240" cy="7772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73184" y="34747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✓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238744" y="4389120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Edge-Native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238744" y="502920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 &amp; Energy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473184" y="5440680"/>
            <a:ext cx="777240" cy="36576"/>
          </a:xfrm>
          <a:prstGeom prst="rect">
            <a:avLst/>
          </a:prstGeom>
          <a:solidFill>
            <a:srgbClr val="95D5B2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30184" y="5532120"/>
            <a:ext cx="30632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Solves the bandwidth wall — only high-entropy frames reach the Fog layer.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109728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097280" cy="0"/>
          </a:xfrm>
          <a:prstGeom prst="line">
            <a:avLst/>
          </a:prstGeom>
          <a:noFill/>
          <a:ln w="38100">
            <a:solidFill>
              <a:srgbClr val="D9A44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554480"/>
            <a:ext cx="11292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02920" y="1554480"/>
            <a:ext cx="164592" cy="14173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830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2103120" y="1737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Blockchain &amp; Data Sovereignty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103120" y="21945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ledger for pest detection events — verifiable audit trail for crop insurance and export compliance, mitigating agro-terrorism risks.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3154680"/>
            <a:ext cx="11292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3154680"/>
            <a:ext cx="164592" cy="14173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3832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103120" y="33375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Mobility-Aware Edge Intelligence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103120" y="37947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Reinforcement Learning for dynamic resource allocation as UAV swarms and autonomous tractors change network topology mid-harvest.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4754880"/>
            <a:ext cx="112928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4754880"/>
            <a:ext cx="164592" cy="1417320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983480"/>
            <a:ext cx="1097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400" dirty="0"/>
          </a:p>
        </p:txBody>
      </p:sp>
      <p:sp>
        <p:nvSpPr>
          <p:cNvPr id="19" name="Text 17"/>
          <p:cNvSpPr/>
          <p:nvPr/>
        </p:nvSpPr>
        <p:spPr>
          <a:xfrm>
            <a:off x="2103120" y="4937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Multi-Modal &amp; Multi-Agent Sensing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2103120" y="5394960"/>
            <a:ext cx="9509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A6F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Soil moisture, humidity and temperature sensors trigger high-frequency image acquisition — keeping high-power DL nodes asleep until needed.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6647688"/>
            <a:ext cx="7315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Mist-Fog Pest Detection · Sujeet Kumar · DU CS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647688"/>
            <a:ext cx="731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7315200" cy="7315200"/>
          </a:xfrm>
          <a:prstGeom prst="ellipse">
            <a:avLst/>
          </a:prstGeom>
          <a:solidFill>
            <a:srgbClr val="52B788">
              <a:alpha val="20000"/>
            </a:srgbClr>
          </a:solidFill>
          <a:ln w="12700">
            <a:solidFill>
              <a:srgbClr val="52B78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95D5B2">
              <a:alpha val="15000"/>
            </a:srgbClr>
          </a:solidFill>
          <a:ln w="12700">
            <a:solidFill>
              <a:srgbClr val="95D5B2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94960" y="1645920"/>
            <a:ext cx="1371600" cy="54864"/>
          </a:xfrm>
          <a:prstGeom prst="rect">
            <a:avLst/>
          </a:prstGeom>
          <a:solidFill>
            <a:srgbClr val="D9A441"/>
          </a:solidFill>
          <a:ln w="12700">
            <a:solidFill>
              <a:srgbClr val="D9A44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828800"/>
            <a:ext cx="11247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84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95D5B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4389120"/>
            <a:ext cx="6675120" cy="1737360"/>
          </a:xfrm>
          <a:prstGeom prst="roundRect">
            <a:avLst>
              <a:gd name="adj" fmla="val 5263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95D5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4526280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Sujeet Kumar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498348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M.Sc. Computer Science  ·  Roll No 44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5285232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Science, University of Delhi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43200" y="562356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Dr. Dilip Senapati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Mist-Fog-Assisted Real-Time Pest Detection</dc:title>
  <dc:subject>PptxGenJS Presentation</dc:subject>
  <dc:creator>Sujeet Kumar</dc:creator>
  <cp:lastModifiedBy>Sujeet Kumar</cp:lastModifiedBy>
  <cp:revision>1</cp:revision>
  <dcterms:created xsi:type="dcterms:W3CDTF">2026-04-22T12:09:45Z</dcterms:created>
  <dcterms:modified xsi:type="dcterms:W3CDTF">2026-04-22T12:09:45Z</dcterms:modified>
</cp:coreProperties>
</file>